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We built a wallet for AI agents that has to earn the right to move money. Before it trades, it must statistically reject the hypothesis that it has no edge. Everything it decides, including every refusal, is recorded and can be verified.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Answer first. Today's agent wallets limit how much an agent can spend. They do not check whether the reason is real. We add an Evidence Court built from our three assignments. In 1,000 no-edge markets it never approved a trade. On real BTC it refused all 36 monthly decisions and so avoided the 20 percent loss the same models suffered without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Why do agents lose money on patterns that are not real? Data leakage, overfitting and trying many strategies, ignored costs, regime shocks, execution attacks and weak governance. For every cause the teal text names the control we built.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Top pipe: data to causal features to walk-forward models to the Evidence Court, which writes a receipt into a hash-chained ledger. Bottom pipe: a request becomes a strict typed intent, then a deterministic policy engine, then the isolated signer. The bridge is the latest GO receipt.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Each gate is something we already did in coursework. G0 no look-ahead. G1 assumption tests, which fail on real data so we always use robust errors. G2 skill against the prevailing mean with Diebold-Mariano and Holm over five candidates. G3 survive without shock bars. G4 net edge after costs with a bootstrap bound. G5 break-even cost at least twice the cost. All pass is GO; skill without net edge is WATCH; else HOLD,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T0 observe. T1 attest on-chain, which can cost only gas. T2 move value, which needs a fresh GO receipt, a whitelisted vault, per-transaction and daily caps and a cooldown. T3 is everything else and is always refused. A drawdown kill-switch needs a human to reset.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The bow-tie: on the left the threats and the barrier for each; on the right the consequences and how we limit them. We tested attacks, not just features: prompt injection, address poisoning, replay, a thousand requests in one bar, a tampered ledger and key leakage.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We tested the court the way one tests any estimator. One thousand simulated markets with no edge at all: zero false GOs, even when trading costs are set to zero. Then we plant an edge of increasing strength. GO rises from under one percent to about 92 percent at b equals 0.2 and 100 percent at b equals 0.4. It is strict, not blind.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Same models, same data, same costs. Without the court the two agents traded constantly, paid about 2,400 to 2,800 dollars in costs on a 2,000 dollar active bucket and lost 20 percent of the wallet. The court said WATCH or HOLD every month, so it paid nothing. Buy and hold ended higher but with a 77 percent drawdown, and it is fully invested, so it is not like for like. This is a sandbox with assumed costs.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Of 180 candidate-window tests, 93 show statistical skill. But after costs none passes the net-edge gate. The median break-even cost of the best model is about 4.6 basis points against a modelled 7.5. Statistical edge, no economic edge, exactly what we found on real BTC.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We kept attacking our own system. If costs are set to zero the court says GO in 10 windows and our first replay lost money in the March 2020 crash. We added a regime guard that flattens when recent volatility exceeds three times the evidence window. We label it post hoc. At a quarter of the base cost the court says GO once and that trade lost about five percent. So a GO is evidence about the past, and caps and the kill-switch matter.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Existing wallets gate risk; we gate evidence. Five ideas: court gates from econometrics, data-snooping control, pre-registration by commit before reveal, attested refusals anchored on-chain, and a deterministic gate between language and signer. We did not find a system combining these; we cannot prove none exists.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A quick map from methods to the six gates. This is why we can explain and defend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Judges can reproduce everything: install, run the tests, run the replay, open the web demo. The on-chain step runs on Base mainnet, a real blockchain, using a few USD of ETH from a throwaway wallet. It runs safety checks first, then writes zero-value attestations whose calldata is NULL1 plus the receipt hash. A capped vault transfer happens only if a GO exists and is explicitly allowed. Then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54864"/>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914400"/>
          </a:xfrm>
          <a:prstGeom prst="rect">
            <a:avLst/>
          </a:prstGeom>
          <a:noFill/>
        </p:spPr>
        <p:txBody>
          <a:bodyPr wrap="square" anchor="t" lIns="45720" rIns="45720" tIns="27432" bIns="27432">
            <a:spAutoFit/>
          </a:bodyPr>
          <a:lstStyle/>
          <a:p>
            <a:pPr algn="l">
              <a:spcAft>
                <a:spcPts val="600"/>
              </a:spcAft>
            </a:pPr>
            <a:r>
              <a:rPr sz="5400" b="1">
                <a:solidFill>
                  <a:srgbClr val="FFFFFF"/>
                </a:solidFill>
                <a:latin typeface="Arial"/>
              </a:rPr>
              <a:t>NULL Wallet</a:t>
            </a:r>
          </a:p>
        </p:txBody>
      </p:sp>
      <p:sp>
        <p:nvSpPr>
          <p:cNvPr id="5" name="TextBox 4"/>
          <p:cNvSpPr txBox="1"/>
          <p:nvPr/>
        </p:nvSpPr>
        <p:spPr>
          <a:xfrm>
            <a:off x="731520" y="2423160"/>
            <a:ext cx="10515600" cy="822960"/>
          </a:xfrm>
          <a:prstGeom prst="rect">
            <a:avLst/>
          </a:prstGeom>
          <a:noFill/>
        </p:spPr>
        <p:txBody>
          <a:bodyPr wrap="square" anchor="t" lIns="45720" rIns="45720" tIns="27432" bIns="27432">
            <a:spAutoFit/>
          </a:bodyPr>
          <a:lstStyle/>
          <a:p>
            <a:pPr algn="l">
              <a:spcAft>
                <a:spcPts val="600"/>
              </a:spcAft>
            </a:pPr>
            <a:r>
              <a:rPr sz="2600" b="0">
                <a:solidFill>
                  <a:srgbClr val="DCE8F0"/>
                </a:solidFill>
                <a:latin typeface="Arial"/>
              </a:rPr>
              <a:t>The AI wallet that must reject "no edge" before it moves money</a:t>
            </a:r>
          </a:p>
        </p:txBody>
      </p:sp>
      <p:sp>
        <p:nvSpPr>
          <p:cNvPr id="6" name="TextBox 5"/>
          <p:cNvSpPr txBox="1"/>
          <p:nvPr/>
        </p:nvSpPr>
        <p:spPr>
          <a:xfrm>
            <a:off x="731520" y="3474720"/>
            <a:ext cx="10515600" cy="1097280"/>
          </a:xfrm>
          <a:prstGeom prst="rect">
            <a:avLst/>
          </a:prstGeom>
          <a:noFill/>
        </p:spPr>
        <p:txBody>
          <a:bodyPr wrap="square" anchor="t" lIns="45720" rIns="45720" tIns="27432" bIns="27432">
            <a:spAutoFit/>
          </a:bodyPr>
          <a:lstStyle/>
          <a:p>
            <a:pPr algn="l">
              <a:spcAft>
                <a:spcPts val="600"/>
              </a:spcAft>
            </a:pPr>
            <a:r>
              <a:rPr sz="1500" b="0">
                <a:solidFill>
                  <a:srgbClr val="AABECD"/>
                </a:solidFill>
                <a:latin typeface="Arial"/>
              </a:rPr>
              <a:t>2026 Shenzhen International FinTech Competition  |  International Track  |  Topic F: Agent Wallet</a:t>
            </a:r>
          </a:p>
          <a:p>
            <a:pPr algn="l">
              <a:spcAft>
                <a:spcPts val="600"/>
              </a:spcAft>
            </a:pPr>
            <a:r>
              <a:rPr sz="1500" b="0">
                <a:solidFill>
                  <a:srgbClr val="AABECD"/>
                </a:solidFill>
                <a:latin typeface="Arial"/>
              </a:rPr>
              <a:t>Theme: AI as a Financial Participant</a:t>
            </a:r>
          </a:p>
        </p:txBody>
      </p:sp>
      <p:sp>
        <p:nvSpPr>
          <p:cNvPr id="7" name="TextBox 6"/>
          <p:cNvSpPr txBox="1"/>
          <p:nvPr/>
        </p:nvSpPr>
        <p:spPr>
          <a:xfrm>
            <a:off x="731520" y="5394960"/>
            <a:ext cx="10515600" cy="731520"/>
          </a:xfrm>
          <a:prstGeom prst="rect">
            <a:avLst/>
          </a:prstGeom>
          <a:noFill/>
        </p:spPr>
        <p:txBody>
          <a:bodyPr wrap="square" anchor="t" lIns="45720" rIns="45720" tIns="27432" bIns="27432">
            <a:spAutoFit/>
          </a:bodyPr>
          <a:lstStyle/>
          <a:p>
            <a:pPr algn="l">
              <a:spcAft>
                <a:spcPts val="600"/>
              </a:spcAft>
            </a:pPr>
            <a:r>
              <a:rPr sz="1400" b="1">
                <a:solidFill>
                  <a:srgbClr val="FFFFFF"/>
                </a:solidFill>
                <a:latin typeface="Arial"/>
              </a:rPr>
              <a:t>Team: AskWallet   |   Brandon Haris Effendi (team leader, MSc Finance), Maulik Bansal (MSc Finance), Desylionie Onggani Winata (MSc Logistics Management), Lund University, Sweden   |   br5880ha-s@student.lu.se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EXECUTIVE SUMMARY</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AI agents with wallets need proof, not just permission: NULL Wallet moves money only after rejecting "no edge"</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Team analysis; Monte Carlo of 1,000 simulated markets; replay of real BTC hourly data 2019-12-18 to 2022-11-14</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2</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sp>
        <p:nvSpPr>
          <p:cNvPr id="8" name="TextBox 7"/>
          <p:cNvSpPr txBox="1"/>
          <p:nvPr/>
        </p:nvSpPr>
        <p:spPr>
          <a:xfrm>
            <a:off x="548640" y="1600200"/>
            <a:ext cx="6766560" cy="4114800"/>
          </a:xfrm>
          <a:prstGeom prst="rect">
            <a:avLst/>
          </a:prstGeom>
          <a:noFill/>
        </p:spPr>
        <p:txBody>
          <a:bodyPr wrap="square">
            <a:spAutoFit/>
          </a:bodyPr>
          <a:lstStyle/>
          <a:p>
            <a:pPr>
              <a:spcAft>
                <a:spcPts val="1000"/>
              </a:spcAft>
            </a:pPr>
            <a:r>
              <a:rPr b="1" sz="1450">
                <a:solidFill>
                  <a:srgbClr val="0B1F3A"/>
                </a:solidFill>
                <a:latin typeface="Arial"/>
              </a:rPr>
              <a:t>The gap. </a:t>
            </a:r>
            <a:r>
              <a:rPr sz="1450">
                <a:solidFill>
                  <a:srgbClr val="1B2430"/>
                </a:solidFill>
                <a:latin typeface="Arial"/>
              </a:rPr>
              <a:t>Spend limits and allowlists ask "is this transfer permitted?" Nobody asks "is the reason real?" An agent can obey every limit and still trade on noise.</a:t>
            </a:r>
          </a:p>
          <a:p>
            <a:pPr>
              <a:spcAft>
                <a:spcPts val="1000"/>
              </a:spcAft>
            </a:pPr>
            <a:r>
              <a:rPr b="1" sz="1450">
                <a:solidFill>
                  <a:srgbClr val="0B1F3A"/>
                </a:solidFill>
                <a:latin typeface="Arial"/>
              </a:rPr>
              <a:t>Our answer. </a:t>
            </a:r>
            <a:r>
              <a:rPr sz="1450">
                <a:solidFill>
                  <a:srgbClr val="1B2430"/>
                </a:solidFill>
                <a:latin typeface="Arial"/>
              </a:rPr>
              <a:t>A wallet that must reject H0 ("no net edge after costs") with pre-registered, multiplicity-corrected tests before value moves; every refusal is recorded and anchored on-chain.</a:t>
            </a:r>
          </a:p>
          <a:p>
            <a:pPr>
              <a:spcAft>
                <a:spcPts val="1000"/>
              </a:spcAft>
            </a:pPr>
            <a:r>
              <a:rPr b="1" sz="1450">
                <a:solidFill>
                  <a:srgbClr val="0B1F3A"/>
                </a:solidFill>
                <a:latin typeface="Arial"/>
              </a:rPr>
              <a:t>The proof. </a:t>
            </a:r>
            <a:r>
              <a:rPr sz="1450">
                <a:solidFill>
                  <a:srgbClr val="1B2430"/>
                </a:solidFill>
                <a:latin typeface="Arial"/>
              </a:rPr>
              <a:t>No-edge markets: 0.0% false GO in 1,000 runs. Real edge: GO rises to 92% at moderate strength. Real BTC: 36 of 36 monthly verdicts say do not trade.</a:t>
            </a:r>
          </a:p>
          <a:p>
            <a:pPr>
              <a:spcAft>
                <a:spcPts val="1000"/>
              </a:spcAft>
            </a:pPr>
            <a:r>
              <a:rPr b="1" sz="1450">
                <a:solidFill>
                  <a:srgbClr val="0B1F3A"/>
                </a:solidFill>
                <a:latin typeface="Arial"/>
              </a:rPr>
              <a:t>The safety. </a:t>
            </a:r>
            <a:r>
              <a:rPr sz="1450">
                <a:solidFill>
                  <a:srgbClr val="1B2430"/>
                </a:solidFill>
                <a:latin typeface="Arial"/>
              </a:rPr>
              <a:t>No language model sits between a request and the key: strict intents, tiers, caps, allowlist, kill-switch. 51 automated tests incl. prompt-injection attacks.</a:t>
            </a:r>
          </a:p>
        </p:txBody>
      </p:sp>
      <p:sp>
        <p:nvSpPr>
          <p:cNvPr id="9" name="Rectangle 8"/>
          <p:cNvSpPr/>
          <p:nvPr/>
        </p:nvSpPr>
        <p:spPr>
          <a:xfrm>
            <a:off x="7680960" y="1645920"/>
            <a:ext cx="1920240" cy="1417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1737360"/>
            <a:ext cx="1920240" cy="731520"/>
          </a:xfrm>
          <a:prstGeom prst="rect">
            <a:avLst/>
          </a:prstGeom>
          <a:noFill/>
        </p:spPr>
        <p:txBody>
          <a:bodyPr wrap="square" anchor="t" lIns="45720" rIns="45720" tIns="27432" bIns="27432">
            <a:spAutoFit/>
          </a:bodyPr>
          <a:lstStyle/>
          <a:p>
            <a:pPr algn="ctr">
              <a:spcAft>
                <a:spcPts val="600"/>
              </a:spcAft>
            </a:pPr>
            <a:r>
              <a:rPr sz="3400" b="1">
                <a:solidFill>
                  <a:srgbClr val="2E8B57"/>
                </a:solidFill>
                <a:latin typeface="Arial"/>
              </a:rPr>
              <a:t>0.0%</a:t>
            </a:r>
          </a:p>
        </p:txBody>
      </p:sp>
      <p:sp>
        <p:nvSpPr>
          <p:cNvPr id="11" name="TextBox 10"/>
          <p:cNvSpPr txBox="1"/>
          <p:nvPr/>
        </p:nvSpPr>
        <p:spPr>
          <a:xfrm>
            <a:off x="7772400" y="2468880"/>
            <a:ext cx="1737360" cy="594360"/>
          </a:xfrm>
          <a:prstGeom prst="rect">
            <a:avLst/>
          </a:prstGeom>
          <a:noFill/>
        </p:spPr>
        <p:txBody>
          <a:bodyPr wrap="square" anchor="t" lIns="45720" rIns="45720" tIns="27432" bIns="27432">
            <a:spAutoFit/>
          </a:bodyPr>
          <a:lstStyle/>
          <a:p>
            <a:pPr algn="ctr">
              <a:spcAft>
                <a:spcPts val="600"/>
              </a:spcAft>
            </a:pPr>
            <a:r>
              <a:rPr sz="1150" b="0">
                <a:solidFill>
                  <a:srgbClr val="1B2430"/>
                </a:solidFill>
                <a:latin typeface="Arial"/>
              </a:rPr>
              <a:t>false GO in 1,000 no-edge simulated markets</a:t>
            </a:r>
          </a:p>
        </p:txBody>
      </p:sp>
      <p:sp>
        <p:nvSpPr>
          <p:cNvPr id="12" name="Rectangle 11"/>
          <p:cNvSpPr/>
          <p:nvPr/>
        </p:nvSpPr>
        <p:spPr>
          <a:xfrm>
            <a:off x="9784080" y="1645920"/>
            <a:ext cx="1920240" cy="1417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0" y="1737360"/>
            <a:ext cx="1920240" cy="731520"/>
          </a:xfrm>
          <a:prstGeom prst="rect">
            <a:avLst/>
          </a:prstGeom>
          <a:noFill/>
        </p:spPr>
        <p:txBody>
          <a:bodyPr wrap="square" anchor="t" lIns="45720" rIns="45720" tIns="27432" bIns="27432">
            <a:spAutoFit/>
          </a:bodyPr>
          <a:lstStyle/>
          <a:p>
            <a:pPr algn="ctr">
              <a:spcAft>
                <a:spcPts val="600"/>
              </a:spcAft>
            </a:pPr>
            <a:r>
              <a:rPr sz="3400" b="1">
                <a:solidFill>
                  <a:srgbClr val="0A9396"/>
                </a:solidFill>
                <a:latin typeface="Arial"/>
              </a:rPr>
              <a:t>92%</a:t>
            </a:r>
          </a:p>
        </p:txBody>
      </p:sp>
      <p:sp>
        <p:nvSpPr>
          <p:cNvPr id="14" name="TextBox 13"/>
          <p:cNvSpPr txBox="1"/>
          <p:nvPr/>
        </p:nvSpPr>
        <p:spPr>
          <a:xfrm>
            <a:off x="9875519" y="2468880"/>
            <a:ext cx="1737360" cy="594360"/>
          </a:xfrm>
          <a:prstGeom prst="rect">
            <a:avLst/>
          </a:prstGeom>
          <a:noFill/>
        </p:spPr>
        <p:txBody>
          <a:bodyPr wrap="square" anchor="t" lIns="45720" rIns="45720" tIns="27432" bIns="27432">
            <a:spAutoFit/>
          </a:bodyPr>
          <a:lstStyle/>
          <a:p>
            <a:pPr algn="ctr">
              <a:spcAft>
                <a:spcPts val="600"/>
              </a:spcAft>
            </a:pPr>
            <a:r>
              <a:rPr sz="1150" b="0">
                <a:solidFill>
                  <a:srgbClr val="1B2430"/>
                </a:solidFill>
                <a:latin typeface="Arial"/>
              </a:rPr>
              <a:t>GO when a moderate edge truly exists</a:t>
            </a:r>
          </a:p>
        </p:txBody>
      </p:sp>
      <p:sp>
        <p:nvSpPr>
          <p:cNvPr id="15" name="Rectangle 14"/>
          <p:cNvSpPr/>
          <p:nvPr/>
        </p:nvSpPr>
        <p:spPr>
          <a:xfrm>
            <a:off x="7680960" y="3246120"/>
            <a:ext cx="1920240" cy="1417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3337560"/>
            <a:ext cx="1920240" cy="731520"/>
          </a:xfrm>
          <a:prstGeom prst="rect">
            <a:avLst/>
          </a:prstGeom>
          <a:noFill/>
        </p:spPr>
        <p:txBody>
          <a:bodyPr wrap="square" anchor="t" lIns="45720" rIns="45720" tIns="27432" bIns="27432">
            <a:spAutoFit/>
          </a:bodyPr>
          <a:lstStyle/>
          <a:p>
            <a:pPr algn="ctr">
              <a:spcAft>
                <a:spcPts val="600"/>
              </a:spcAft>
            </a:pPr>
            <a:r>
              <a:rPr sz="3400" b="1">
                <a:solidFill>
                  <a:srgbClr val="0B1F3A"/>
                </a:solidFill>
                <a:latin typeface="Arial"/>
              </a:rPr>
              <a:t>0 of 36</a:t>
            </a:r>
          </a:p>
        </p:txBody>
      </p:sp>
      <p:sp>
        <p:nvSpPr>
          <p:cNvPr id="17" name="TextBox 16"/>
          <p:cNvSpPr txBox="1"/>
          <p:nvPr/>
        </p:nvSpPr>
        <p:spPr>
          <a:xfrm>
            <a:off x="7772400" y="4069080"/>
            <a:ext cx="1737360" cy="594360"/>
          </a:xfrm>
          <a:prstGeom prst="rect">
            <a:avLst/>
          </a:prstGeom>
          <a:noFill/>
        </p:spPr>
        <p:txBody>
          <a:bodyPr wrap="square" anchor="t" lIns="45720" rIns="45720" tIns="27432" bIns="27432">
            <a:spAutoFit/>
          </a:bodyPr>
          <a:lstStyle/>
          <a:p>
            <a:pPr algn="ctr">
              <a:spcAft>
                <a:spcPts val="600"/>
              </a:spcAft>
            </a:pPr>
            <a:r>
              <a:rPr sz="1150" b="0">
                <a:solidFill>
                  <a:srgbClr val="1B2430"/>
                </a:solidFill>
                <a:latin typeface="Arial"/>
              </a:rPr>
              <a:t>monthly verdicts on real BTC allowed trading</a:t>
            </a:r>
          </a:p>
        </p:txBody>
      </p:sp>
      <p:sp>
        <p:nvSpPr>
          <p:cNvPr id="18" name="Rectangle 17"/>
          <p:cNvSpPr/>
          <p:nvPr/>
        </p:nvSpPr>
        <p:spPr>
          <a:xfrm>
            <a:off x="9784080" y="3246120"/>
            <a:ext cx="1920240" cy="1417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0" y="3337560"/>
            <a:ext cx="1920240" cy="731520"/>
          </a:xfrm>
          <a:prstGeom prst="rect">
            <a:avLst/>
          </a:prstGeom>
          <a:noFill/>
        </p:spPr>
        <p:txBody>
          <a:bodyPr wrap="square" anchor="t" lIns="45720" rIns="45720" tIns="27432" bIns="27432">
            <a:spAutoFit/>
          </a:bodyPr>
          <a:lstStyle/>
          <a:p>
            <a:pPr algn="ctr">
              <a:spcAft>
                <a:spcPts val="600"/>
              </a:spcAft>
            </a:pPr>
            <a:r>
              <a:rPr sz="3400" b="1">
                <a:solidFill>
                  <a:srgbClr val="C0392B"/>
                </a:solidFill>
                <a:latin typeface="Arial"/>
              </a:rPr>
              <a:t>-20%</a:t>
            </a:r>
          </a:p>
        </p:txBody>
      </p:sp>
      <p:sp>
        <p:nvSpPr>
          <p:cNvPr id="20" name="TextBox 19"/>
          <p:cNvSpPr txBox="1"/>
          <p:nvPr/>
        </p:nvSpPr>
        <p:spPr>
          <a:xfrm>
            <a:off x="9875519" y="4069080"/>
            <a:ext cx="1737360" cy="594360"/>
          </a:xfrm>
          <a:prstGeom prst="rect">
            <a:avLst/>
          </a:prstGeom>
          <a:noFill/>
        </p:spPr>
        <p:txBody>
          <a:bodyPr wrap="square" anchor="t" lIns="45720" rIns="45720" tIns="27432" bIns="27432">
            <a:spAutoFit/>
          </a:bodyPr>
          <a:lstStyle/>
          <a:p>
            <a:pPr algn="ctr">
              <a:spcAft>
                <a:spcPts val="600"/>
              </a:spcAft>
            </a:pPr>
            <a:r>
              <a:rPr sz="1150" b="0">
                <a:solidFill>
                  <a:srgbClr val="1B2430"/>
                </a:solidFill>
                <a:latin typeface="Arial"/>
              </a:rPr>
              <a:t>wallet loss of the same models run without the court</a:t>
            </a:r>
          </a:p>
        </p:txBody>
      </p:sp>
      <p:sp>
        <p:nvSpPr>
          <p:cNvPr id="21" name="Rectangle 20"/>
          <p:cNvSpPr/>
          <p:nvPr/>
        </p:nvSpPr>
        <p:spPr>
          <a:xfrm>
            <a:off x="548640" y="571500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71500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evidence before permission makes an AI agent's wallet auditable, and refusing to trade becomes a result you can prove.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PROBLEM</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Six families of causes make agents trade on false edges, and each one has a control in NULL Wallet</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Team root-cause analysis (fishbone); controls map to code modules in the repository</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3</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5_fishbone.png"/>
          <p:cNvPicPr>
            <a:picLocks noChangeAspect="1"/>
          </p:cNvPicPr>
          <p:nvPr/>
        </p:nvPicPr>
        <p:blipFill>
          <a:blip r:embed="rId3"/>
          <a:stretch>
            <a:fillRect/>
          </a:stretch>
        </p:blipFill>
        <p:spPr>
          <a:xfrm>
            <a:off x="548640" y="1508760"/>
            <a:ext cx="11064240" cy="55440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SOLUTION</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Two separated pipes decide whether to act and how to act, and meet only at the latest GO receipt</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NULL Wallet architecture (nullwallet/ package)</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4</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1_architecture.png"/>
          <p:cNvPicPr>
            <a:picLocks noChangeAspect="1"/>
          </p:cNvPicPr>
          <p:nvPr/>
        </p:nvPicPr>
        <p:blipFill>
          <a:blip r:embed="rId3"/>
          <a:stretch>
            <a:fillRect/>
          </a:stretch>
        </p:blipFill>
        <p:spPr>
          <a:xfrm>
            <a:off x="548640" y="1508760"/>
            <a:ext cx="7589520" cy="3715356"/>
          </a:xfrm>
          <a:prstGeom prst="rect">
            <a:avLst/>
          </a:prstGeom>
        </p:spPr>
      </p:pic>
      <p:sp>
        <p:nvSpPr>
          <p:cNvPr id="9" name="TextBox 8"/>
          <p:cNvSpPr txBox="1"/>
          <p:nvPr/>
        </p:nvSpPr>
        <p:spPr>
          <a:xfrm>
            <a:off x="8321040" y="1645920"/>
            <a:ext cx="3383280" cy="4114800"/>
          </a:xfrm>
          <a:prstGeom prst="rect">
            <a:avLst/>
          </a:prstGeom>
          <a:noFill/>
        </p:spPr>
        <p:txBody>
          <a:bodyPr wrap="square">
            <a:spAutoFit/>
          </a:bodyPr>
          <a:lstStyle/>
          <a:p>
            <a:pPr>
              <a:spcAft>
                <a:spcPts val="1000"/>
              </a:spcAft>
            </a:pPr>
            <a:r>
              <a:rPr b="1" sz="1300">
                <a:solidFill>
                  <a:srgbClr val="0B1F3A"/>
                </a:solidFill>
                <a:latin typeface="Arial"/>
              </a:rPr>
              <a:t>Evidence pipe. </a:t>
            </a:r>
            <a:r>
              <a:rPr sz="1300">
                <a:solidFill>
                  <a:srgbClr val="1B2430"/>
                </a:solidFill>
                <a:latin typeface="Arial"/>
              </a:rPr>
              <a:t>Decides whether the strategy deserves capital.</a:t>
            </a:r>
          </a:p>
          <a:p>
            <a:pPr>
              <a:spcAft>
                <a:spcPts val="1000"/>
              </a:spcAft>
            </a:pPr>
            <a:r>
              <a:rPr b="1" sz="1300">
                <a:solidFill>
                  <a:srgbClr val="0B1F3A"/>
                </a:solidFill>
                <a:latin typeface="Arial"/>
              </a:rPr>
              <a:t>Action pipe. </a:t>
            </a:r>
            <a:r>
              <a:rPr sz="1300">
                <a:solidFill>
                  <a:srgbClr val="1B2430"/>
                </a:solidFill>
                <a:latin typeface="Arial"/>
              </a:rPr>
              <a:t>Decides whether this specific move is allowed. Plain code, no model.</a:t>
            </a:r>
          </a:p>
          <a:p>
            <a:pPr>
              <a:spcAft>
                <a:spcPts val="1000"/>
              </a:spcAft>
            </a:pPr>
            <a:r>
              <a:rPr b="1" sz="1300">
                <a:solidFill>
                  <a:srgbClr val="0B1F3A"/>
                </a:solidFill>
                <a:latin typeface="Arial"/>
              </a:rPr>
              <a:t>Bridge. </a:t>
            </a:r>
            <a:r>
              <a:rPr sz="1300">
                <a:solidFill>
                  <a:srgbClr val="1B2430"/>
                </a:solidFill>
                <a:latin typeface="Arial"/>
              </a:rPr>
              <a:t>A tier-2 move must cite the latest, fresh GO receipt.</a:t>
            </a:r>
          </a:p>
          <a:p>
            <a:pPr>
              <a:spcAft>
                <a:spcPts val="1000"/>
              </a:spcAft>
            </a:pPr>
            <a:r>
              <a:rPr b="1" sz="1300">
                <a:solidFill>
                  <a:srgbClr val="0B1F3A"/>
                </a:solidFill>
                <a:latin typeface="Arial"/>
              </a:rPr>
              <a:t>Ledger. </a:t>
            </a:r>
            <a:r>
              <a:rPr sz="1300">
                <a:solidFill>
                  <a:srgbClr val="1B2430"/>
                </a:solidFill>
                <a:latin typeface="Arial"/>
              </a:rPr>
              <a:t>Hash-chained; head anchored on-chain.</a:t>
            </a:r>
          </a:p>
        </p:txBody>
      </p:sp>
      <p:sp>
        <p:nvSpPr>
          <p:cNvPr id="10" name="Rectangle 9"/>
          <p:cNvSpPr/>
          <p:nvPr/>
        </p:nvSpPr>
        <p:spPr>
          <a:xfrm>
            <a:off x="548640" y="571500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71500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a compromised or confused language layer still cannot sign anything the policy engine does not approve.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SOLUTION</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The Evidence Court turns six standard econometric tests into one verdict: GO, WATCH or HOLD</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Diebold-Mariano (1995), Newey-West (1987), Holm (1979), White (2000)</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5</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2_gates.png"/>
          <p:cNvPicPr>
            <a:picLocks noChangeAspect="1"/>
          </p:cNvPicPr>
          <p:nvPr/>
        </p:nvPicPr>
        <p:blipFill>
          <a:blip r:embed="rId3"/>
          <a:stretch>
            <a:fillRect/>
          </a:stretch>
        </p:blipFill>
        <p:spPr>
          <a:xfrm>
            <a:off x="548640" y="1508760"/>
            <a:ext cx="11064240" cy="5190232"/>
          </a:xfrm>
          <a:prstGeom prst="rect">
            <a:avLst/>
          </a:prstGeom>
        </p:spPr>
      </p:pic>
      <p:sp>
        <p:nvSpPr>
          <p:cNvPr id="9" name="Rectangle 8"/>
          <p:cNvSpPr/>
          <p:nvPr/>
        </p:nvSpPr>
        <p:spPr>
          <a:xfrm>
            <a:off x="548640" y="576072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"no trade" is the default and every GO has to survive data-snooping control and realistic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SECURITY</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Authority grows only as evidence grows: four tiers, and anything unknown is refused</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NULL Wallet policy engine (nullwallet/policy.py); tests in tests/test_redteam.py</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6</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3_tiers.png"/>
          <p:cNvPicPr>
            <a:picLocks noChangeAspect="1"/>
          </p:cNvPicPr>
          <p:nvPr/>
        </p:nvPicPr>
        <p:blipFill>
          <a:blip r:embed="rId3"/>
          <a:stretch>
            <a:fillRect/>
          </a:stretch>
        </p:blipFill>
        <p:spPr>
          <a:xfrm>
            <a:off x="548640" y="1508760"/>
            <a:ext cx="6583680" cy="3264119"/>
          </a:xfrm>
          <a:prstGeom prst="rect">
            <a:avLst/>
          </a:prstGeom>
        </p:spPr>
      </p:pic>
      <p:sp>
        <p:nvSpPr>
          <p:cNvPr id="9" name="TextBox 8"/>
          <p:cNvSpPr txBox="1"/>
          <p:nvPr/>
        </p:nvSpPr>
        <p:spPr>
          <a:xfrm>
            <a:off x="7406640" y="1645920"/>
            <a:ext cx="4297680" cy="4114800"/>
          </a:xfrm>
          <a:prstGeom prst="rect">
            <a:avLst/>
          </a:prstGeom>
          <a:noFill/>
        </p:spPr>
        <p:txBody>
          <a:bodyPr wrap="square">
            <a:spAutoFit/>
          </a:bodyPr>
          <a:lstStyle/>
          <a:p>
            <a:pPr>
              <a:spcAft>
                <a:spcPts val="1000"/>
              </a:spcAft>
            </a:pPr>
            <a:r>
              <a:rPr b="1" sz="1300">
                <a:solidFill>
                  <a:srgbClr val="0B1F3A"/>
                </a:solidFill>
                <a:latin typeface="Arial"/>
              </a:rPr>
              <a:t>Strict intent schema. </a:t>
            </a:r>
            <a:r>
              <a:rPr sz="1300">
                <a:solidFill>
                  <a:srgbClr val="1B2430"/>
                </a:solidFill>
                <a:latin typeface="Arial"/>
              </a:rPr>
              <a:t>Unknown fields are rejected.</a:t>
            </a:r>
          </a:p>
          <a:p>
            <a:pPr>
              <a:spcAft>
                <a:spcPts val="1000"/>
              </a:spcAft>
            </a:pPr>
            <a:r>
              <a:rPr b="1" sz="1300">
                <a:solidFill>
                  <a:srgbClr val="0B1F3A"/>
                </a:solidFill>
                <a:latin typeface="Arial"/>
              </a:rPr>
              <a:t>Exact allowlist. </a:t>
            </a:r>
            <a:r>
              <a:rPr sz="1300">
                <a:solidFill>
                  <a:srgbClr val="1B2430"/>
                </a:solidFill>
                <a:latin typeface="Arial"/>
              </a:rPr>
              <a:t>Look-alike addresses fail.</a:t>
            </a:r>
          </a:p>
          <a:p>
            <a:pPr>
              <a:spcAft>
                <a:spcPts val="1000"/>
              </a:spcAft>
            </a:pPr>
            <a:r>
              <a:rPr b="1" sz="1300">
                <a:solidFill>
                  <a:srgbClr val="0B1F3A"/>
                </a:solidFill>
                <a:latin typeface="Arial"/>
              </a:rPr>
              <a:t>Freshness and cooldown. </a:t>
            </a:r>
            <a:r>
              <a:rPr sz="1300">
                <a:solidFill>
                  <a:srgbClr val="1B2430"/>
                </a:solidFill>
                <a:latin typeface="Arial"/>
              </a:rPr>
              <a:t>Old approvals cannot be replayed.</a:t>
            </a:r>
          </a:p>
          <a:p>
            <a:pPr>
              <a:spcAft>
                <a:spcPts val="1000"/>
              </a:spcAft>
            </a:pPr>
            <a:r>
              <a:rPr b="1" sz="1300">
                <a:solidFill>
                  <a:srgbClr val="0B1F3A"/>
                </a:solidFill>
                <a:latin typeface="Arial"/>
              </a:rPr>
              <a:t>Isolated signer. </a:t>
            </a:r>
            <a:r>
              <a:rPr sz="1300">
                <a:solidFill>
                  <a:srgbClr val="1B2430"/>
                </a:solidFill>
                <a:latin typeface="Arial"/>
              </a:rPr>
              <a:t>Key only in an environment variable, never in logs or receipts.</a:t>
            </a:r>
          </a:p>
          <a:p>
            <a:pPr>
              <a:spcAft>
                <a:spcPts val="1000"/>
              </a:spcAft>
            </a:pPr>
            <a:r>
              <a:rPr b="1" sz="1300">
                <a:solidFill>
                  <a:srgbClr val="0B1F3A"/>
                </a:solidFill>
                <a:latin typeface="Arial"/>
              </a:rPr>
              <a:t>Kill-switch. </a:t>
            </a:r>
            <a:r>
              <a:rPr sz="1300">
                <a:solidFill>
                  <a:srgbClr val="1B2430"/>
                </a:solidFill>
                <a:latin typeface="Arial"/>
              </a:rPr>
              <a:t>10% drawdown halts value moves.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SECURITY</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Five threats are blocked before the event and four consequences are limited after it, backed by 51 tests</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Team bow-tie risk analysis; unittest results (all passing)</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7</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6_bowtie.png"/>
          <p:cNvPicPr>
            <a:picLocks noChangeAspect="1"/>
          </p:cNvPicPr>
          <p:nvPr/>
        </p:nvPicPr>
        <p:blipFill>
          <a:blip r:embed="rId3"/>
          <a:stretch>
            <a:fillRect/>
          </a:stretch>
        </p:blipFill>
        <p:spPr>
          <a:xfrm>
            <a:off x="548640" y="1463040"/>
            <a:ext cx="7498079" cy="3986535"/>
          </a:xfrm>
          <a:prstGeom prst="rect">
            <a:avLst/>
          </a:prstGeom>
        </p:spPr>
      </p:pic>
      <p:pic>
        <p:nvPicPr>
          <p:cNvPr id="9" name="Picture 8" descr="18_tests.png"/>
          <p:cNvPicPr>
            <a:picLocks noChangeAspect="1"/>
          </p:cNvPicPr>
          <p:nvPr/>
        </p:nvPicPr>
        <p:blipFill>
          <a:blip r:embed="rId4"/>
          <a:stretch>
            <a:fillRect/>
          </a:stretch>
        </p:blipFill>
        <p:spPr>
          <a:xfrm>
            <a:off x="8138160" y="1600200"/>
            <a:ext cx="3566160" cy="1545533"/>
          </a:xfrm>
          <a:prstGeom prst="rect">
            <a:avLst/>
          </a:prstGeom>
        </p:spPr>
      </p:pic>
      <p:sp>
        <p:nvSpPr>
          <p:cNvPr id="10" name="Rectangle 9"/>
          <p:cNvSpPr/>
          <p:nvPr/>
        </p:nvSpPr>
        <p:spPr>
          <a:xfrm>
            <a:off x="548640" y="576072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even when the text parser is fooled, the policy engine still refuses (tested).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EVIDENCE 1: STRESS TEST</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In 1,000 no-edge markets the court never approved a trade, yet it approves 92% when a moderate edge truly exists</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Monte Carlo (montecarlo.json); GARCH volatility, Student-t shocks, jumps; planted mean-reversion edge b</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8</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7_power.png"/>
          <p:cNvPicPr>
            <a:picLocks noChangeAspect="1"/>
          </p:cNvPicPr>
          <p:nvPr/>
        </p:nvPicPr>
        <p:blipFill>
          <a:blip r:embed="rId3"/>
          <a:stretch>
            <a:fillRect/>
          </a:stretch>
        </p:blipFill>
        <p:spPr>
          <a:xfrm>
            <a:off x="548640" y="1508760"/>
            <a:ext cx="6400800" cy="3886052"/>
          </a:xfrm>
          <a:prstGeom prst="rect">
            <a:avLst/>
          </a:prstGeom>
        </p:spPr>
      </p:pic>
      <p:sp>
        <p:nvSpPr>
          <p:cNvPr id="9" name="TextBox 8"/>
          <p:cNvSpPr txBox="1"/>
          <p:nvPr/>
        </p:nvSpPr>
        <p:spPr>
          <a:xfrm>
            <a:off x="7223760" y="1645920"/>
            <a:ext cx="4480560" cy="4114800"/>
          </a:xfrm>
          <a:prstGeom prst="rect">
            <a:avLst/>
          </a:prstGeom>
          <a:noFill/>
        </p:spPr>
        <p:txBody>
          <a:bodyPr wrap="square">
            <a:spAutoFit/>
          </a:bodyPr>
          <a:lstStyle/>
          <a:p>
            <a:pPr>
              <a:spcAft>
                <a:spcPts val="1000"/>
              </a:spcAft>
            </a:pPr>
            <a:r>
              <a:rPr b="1" sz="1300">
                <a:solidFill>
                  <a:srgbClr val="0B1F3A"/>
                </a:solidFill>
                <a:latin typeface="Arial"/>
              </a:rPr>
              <a:t>Size. </a:t>
            </a:r>
            <a:r>
              <a:rPr sz="1300">
                <a:solidFill>
                  <a:srgbClr val="1B2430"/>
                </a:solidFill>
                <a:latin typeface="Arial"/>
              </a:rPr>
              <a:t>0.0% GO under H0 (1,000 markets); 0.0% with zero costs.</a:t>
            </a:r>
          </a:p>
          <a:p>
            <a:pPr>
              <a:spcAft>
                <a:spcPts val="1000"/>
              </a:spcAft>
            </a:pPr>
            <a:r>
              <a:rPr b="1" sz="1300">
                <a:solidFill>
                  <a:srgbClr val="0B1F3A"/>
                </a:solidFill>
                <a:latin typeface="Arial"/>
              </a:rPr>
              <a:t>Power. </a:t>
            </a:r>
            <a:r>
              <a:rPr sz="1300">
                <a:solidFill>
                  <a:srgbClr val="1B2430"/>
                </a:solidFill>
                <a:latin typeface="Arial"/>
              </a:rPr>
              <a:t>0.7% (weak), 14%, 92% and 100% as the edge strengthens.</a:t>
            </a:r>
          </a:p>
          <a:p>
            <a:pPr>
              <a:spcAft>
                <a:spcPts val="1000"/>
              </a:spcAft>
            </a:pPr>
            <a:r>
              <a:rPr b="1" sz="1300">
                <a:solidFill>
                  <a:srgbClr val="0B1F3A"/>
                </a:solidFill>
                <a:latin typeface="Arial"/>
              </a:rPr>
              <a:t>Why trust it. </a:t>
            </a:r>
            <a:r>
              <a:rPr sz="1300">
                <a:solidFill>
                  <a:srgbClr val="1B2430"/>
                </a:solidFill>
                <a:latin typeface="Arial"/>
              </a:rPr>
              <a:t>Four gates must all pass; Holm correction prices in five tries.</a:t>
            </a:r>
          </a:p>
          <a:p>
            <a:pPr>
              <a:spcAft>
                <a:spcPts val="1000"/>
              </a:spcAft>
            </a:pPr>
            <a:r>
              <a:rPr b="1" sz="1300">
                <a:solidFill>
                  <a:srgbClr val="0B1F3A"/>
                </a:solidFill>
                <a:latin typeface="Arial"/>
              </a:rPr>
              <a:t>Versus a naive picker. </a:t>
            </a:r>
            <a:r>
              <a:rPr sz="1300">
                <a:solidFill>
                  <a:srgbClr val="1B2430"/>
                </a:solidFill>
                <a:latin typeface="Arial"/>
              </a:rPr>
              <a:t>Any-of-5 with raw p&lt;0.05 and no cost margin trades in 2.4% of no-edge markets and 11% at weak edge: more sensitive, but uncontrolled.</a:t>
            </a:r>
          </a:p>
          <a:p>
            <a:pPr>
              <a:spcAft>
                <a:spcPts val="1000"/>
              </a:spcAft>
            </a:pPr>
            <a:r>
              <a:rPr b="1" sz="1300">
                <a:solidFill>
                  <a:srgbClr val="0B1F3A"/>
                </a:solidFill>
                <a:latin typeface="Arial"/>
              </a:rPr>
              <a:t>Caveat. </a:t>
            </a:r>
            <a:r>
              <a:rPr sz="1300">
                <a:solidFill>
                  <a:srgbClr val="1B2430"/>
                </a:solidFill>
                <a:latin typeface="Arial"/>
              </a:rPr>
              <a:t>Per-month tests repeat; sequential control is on the roadmap.</a:t>
            </a:r>
          </a:p>
        </p:txBody>
      </p:sp>
      <p:sp>
        <p:nvSpPr>
          <p:cNvPr id="10" name="Rectangle 9"/>
          <p:cNvSpPr/>
          <p:nvPr/>
        </p:nvSpPr>
        <p:spPr>
          <a:xfrm>
            <a:off x="548640" y="576072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strict where there is nothing to find, sensitive where there is something, with the trade-off shown openly.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EVIDENCE 2: REAL DATA</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On real BTC the court refused all 36 monthly decisions and avoided the 20% loss the same models suffered</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BTC 5-min data aggregated to hourly, replay 2019-12-18 to 2022-11-14; sandbox with assumed costs, not live trading</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9</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0_equity.png"/>
          <p:cNvPicPr>
            <a:picLocks noChangeAspect="1"/>
          </p:cNvPicPr>
          <p:nvPr/>
        </p:nvPicPr>
        <p:blipFill>
          <a:blip r:embed="rId3"/>
          <a:stretch>
            <a:fillRect/>
          </a:stretch>
        </p:blipFill>
        <p:spPr>
          <a:xfrm>
            <a:off x="548640" y="1508760"/>
            <a:ext cx="6949440" cy="3944969"/>
          </a:xfrm>
          <a:prstGeom prst="rect">
            <a:avLst/>
          </a:prstGeom>
        </p:spPr>
      </p:pic>
      <p:sp>
        <p:nvSpPr>
          <p:cNvPr id="9" name="Rectangle 8"/>
          <p:cNvSpPr/>
          <p:nvPr/>
        </p:nvSpPr>
        <p:spPr>
          <a:xfrm>
            <a:off x="7772400" y="1645920"/>
            <a:ext cx="3931920" cy="35661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365760"/>
          </a:xfrm>
          <a:prstGeom prst="rect">
            <a:avLst/>
          </a:prstGeom>
          <a:noFill/>
        </p:spPr>
        <p:txBody>
          <a:bodyPr wrap="square" anchor="t" lIns="45720" rIns="45720" tIns="27432" bIns="27432">
            <a:spAutoFit/>
          </a:bodyPr>
          <a:lstStyle/>
          <a:p>
            <a:pPr algn="l">
              <a:spcAft>
                <a:spcPts val="600"/>
              </a:spcAft>
            </a:pPr>
            <a:r>
              <a:rPr sz="1300" b="1">
                <a:solidFill>
                  <a:srgbClr val="0B1F3A"/>
                </a:solidFill>
                <a:latin typeface="Arial"/>
              </a:rPr>
              <a:t>Final value of a $10,000 wallet</a:t>
            </a:r>
          </a:p>
        </p:txBody>
      </p:sp>
      <p:sp>
        <p:nvSpPr>
          <p:cNvPr id="11" name="TextBox 10"/>
          <p:cNvSpPr txBox="1"/>
          <p:nvPr/>
        </p:nvSpPr>
        <p:spPr>
          <a:xfrm>
            <a:off x="7909560" y="2194560"/>
            <a:ext cx="2194560" cy="365760"/>
          </a:xfrm>
          <a:prstGeom prst="rect">
            <a:avLst/>
          </a:prstGeom>
          <a:noFill/>
        </p:spPr>
        <p:txBody>
          <a:bodyPr wrap="square" anchor="t" lIns="45720" rIns="45720" tIns="27432" bIns="27432">
            <a:spAutoFit/>
          </a:bodyPr>
          <a:lstStyle/>
          <a:p>
            <a:pPr algn="l">
              <a:spcAft>
                <a:spcPts val="600"/>
              </a:spcAft>
            </a:pPr>
            <a:r>
              <a:rPr sz="1400" b="0">
                <a:solidFill>
                  <a:srgbClr val="1B2430"/>
                </a:solidFill>
                <a:latin typeface="Arial"/>
              </a:rPr>
              <a:t>NULL Wallet</a:t>
            </a:r>
          </a:p>
        </p:txBody>
      </p:sp>
      <p:sp>
        <p:nvSpPr>
          <p:cNvPr id="12" name="TextBox 11"/>
          <p:cNvSpPr txBox="1"/>
          <p:nvPr/>
        </p:nvSpPr>
        <p:spPr>
          <a:xfrm>
            <a:off x="9784080" y="2194560"/>
            <a:ext cx="1737360" cy="365760"/>
          </a:xfrm>
          <a:prstGeom prst="rect">
            <a:avLst/>
          </a:prstGeom>
          <a:noFill/>
        </p:spPr>
        <p:txBody>
          <a:bodyPr wrap="square" anchor="t" lIns="45720" rIns="45720" tIns="27432" bIns="27432">
            <a:spAutoFit/>
          </a:bodyPr>
          <a:lstStyle/>
          <a:p>
            <a:pPr algn="r">
              <a:spcAft>
                <a:spcPts val="600"/>
              </a:spcAft>
            </a:pPr>
            <a:r>
              <a:rPr sz="1600" b="1">
                <a:solidFill>
                  <a:srgbClr val="0A9396"/>
                </a:solidFill>
                <a:latin typeface="Arial"/>
              </a:rPr>
              <a:t>$10,000</a:t>
            </a:r>
          </a:p>
        </p:txBody>
      </p:sp>
      <p:sp>
        <p:nvSpPr>
          <p:cNvPr id="13" name="TextBox 12"/>
          <p:cNvSpPr txBox="1"/>
          <p:nvPr/>
        </p:nvSpPr>
        <p:spPr>
          <a:xfrm>
            <a:off x="7909560" y="2697480"/>
            <a:ext cx="2194560" cy="365760"/>
          </a:xfrm>
          <a:prstGeom prst="rect">
            <a:avLst/>
          </a:prstGeom>
          <a:noFill/>
        </p:spPr>
        <p:txBody>
          <a:bodyPr wrap="square" anchor="t" lIns="45720" rIns="45720" tIns="27432" bIns="27432">
            <a:spAutoFit/>
          </a:bodyPr>
          <a:lstStyle/>
          <a:p>
            <a:pPr algn="l">
              <a:spcAft>
                <a:spcPts val="600"/>
              </a:spcAft>
            </a:pPr>
            <a:r>
              <a:rPr sz="1400" b="0">
                <a:solidFill>
                  <a:srgbClr val="1B2430"/>
                </a:solidFill>
                <a:latin typeface="Arial"/>
              </a:rPr>
              <a:t>No court, GBM</a:t>
            </a:r>
          </a:p>
        </p:txBody>
      </p:sp>
      <p:sp>
        <p:nvSpPr>
          <p:cNvPr id="14" name="TextBox 13"/>
          <p:cNvSpPr txBox="1"/>
          <p:nvPr/>
        </p:nvSpPr>
        <p:spPr>
          <a:xfrm>
            <a:off x="9784080" y="2697480"/>
            <a:ext cx="1737360" cy="365760"/>
          </a:xfrm>
          <a:prstGeom prst="rect">
            <a:avLst/>
          </a:prstGeom>
          <a:noFill/>
        </p:spPr>
        <p:txBody>
          <a:bodyPr wrap="square" anchor="t" lIns="45720" rIns="45720" tIns="27432" bIns="27432">
            <a:spAutoFit/>
          </a:bodyPr>
          <a:lstStyle/>
          <a:p>
            <a:pPr algn="r">
              <a:spcAft>
                <a:spcPts val="600"/>
              </a:spcAft>
            </a:pPr>
            <a:r>
              <a:rPr sz="1600" b="1">
                <a:solidFill>
                  <a:srgbClr val="C0392B"/>
                </a:solidFill>
                <a:latin typeface="Arial"/>
              </a:rPr>
              <a:t>$8,000</a:t>
            </a:r>
          </a:p>
        </p:txBody>
      </p:sp>
      <p:sp>
        <p:nvSpPr>
          <p:cNvPr id="15" name="TextBox 14"/>
          <p:cNvSpPr txBox="1"/>
          <p:nvPr/>
        </p:nvSpPr>
        <p:spPr>
          <a:xfrm>
            <a:off x="7909560" y="3200400"/>
            <a:ext cx="2194560" cy="365760"/>
          </a:xfrm>
          <a:prstGeom prst="rect">
            <a:avLst/>
          </a:prstGeom>
          <a:noFill/>
        </p:spPr>
        <p:txBody>
          <a:bodyPr wrap="square" anchor="t" lIns="45720" rIns="45720" tIns="27432" bIns="27432">
            <a:spAutoFit/>
          </a:bodyPr>
          <a:lstStyle/>
          <a:p>
            <a:pPr algn="l">
              <a:spcAft>
                <a:spcPts val="600"/>
              </a:spcAft>
            </a:pPr>
            <a:r>
              <a:rPr sz="1400" b="0">
                <a:solidFill>
                  <a:srgbClr val="1B2430"/>
                </a:solidFill>
                <a:latin typeface="Arial"/>
              </a:rPr>
              <a:t>No court, logit</a:t>
            </a:r>
          </a:p>
        </p:txBody>
      </p:sp>
      <p:sp>
        <p:nvSpPr>
          <p:cNvPr id="16" name="TextBox 15"/>
          <p:cNvSpPr txBox="1"/>
          <p:nvPr/>
        </p:nvSpPr>
        <p:spPr>
          <a:xfrm>
            <a:off x="9784080" y="3200400"/>
            <a:ext cx="1737360" cy="365760"/>
          </a:xfrm>
          <a:prstGeom prst="rect">
            <a:avLst/>
          </a:prstGeom>
          <a:noFill/>
        </p:spPr>
        <p:txBody>
          <a:bodyPr wrap="square" anchor="t" lIns="45720" rIns="45720" tIns="27432" bIns="27432">
            <a:spAutoFit/>
          </a:bodyPr>
          <a:lstStyle/>
          <a:p>
            <a:pPr algn="r">
              <a:spcAft>
                <a:spcPts val="600"/>
              </a:spcAft>
            </a:pPr>
            <a:r>
              <a:rPr sz="1600" b="1">
                <a:solidFill>
                  <a:srgbClr val="C0392B"/>
                </a:solidFill>
                <a:latin typeface="Arial"/>
              </a:rPr>
              <a:t>$8,000</a:t>
            </a:r>
          </a:p>
        </p:txBody>
      </p:sp>
      <p:sp>
        <p:nvSpPr>
          <p:cNvPr id="17" name="TextBox 16"/>
          <p:cNvSpPr txBox="1"/>
          <p:nvPr/>
        </p:nvSpPr>
        <p:spPr>
          <a:xfrm>
            <a:off x="7909560" y="3703320"/>
            <a:ext cx="2194560" cy="365760"/>
          </a:xfrm>
          <a:prstGeom prst="rect">
            <a:avLst/>
          </a:prstGeom>
          <a:noFill/>
        </p:spPr>
        <p:txBody>
          <a:bodyPr wrap="square" anchor="t" lIns="45720" rIns="45720" tIns="27432" bIns="27432">
            <a:spAutoFit/>
          </a:bodyPr>
          <a:lstStyle/>
          <a:p>
            <a:pPr algn="l">
              <a:spcAft>
                <a:spcPts val="600"/>
              </a:spcAft>
            </a:pPr>
            <a:r>
              <a:rPr sz="1400" b="0">
                <a:solidFill>
                  <a:srgbClr val="1B2430"/>
                </a:solidFill>
                <a:latin typeface="Arial"/>
              </a:rPr>
              <a:t>Buy &amp; hold*</a:t>
            </a:r>
          </a:p>
        </p:txBody>
      </p:sp>
      <p:sp>
        <p:nvSpPr>
          <p:cNvPr id="18" name="TextBox 17"/>
          <p:cNvSpPr txBox="1"/>
          <p:nvPr/>
        </p:nvSpPr>
        <p:spPr>
          <a:xfrm>
            <a:off x="9784080" y="3703320"/>
            <a:ext cx="1737360" cy="365760"/>
          </a:xfrm>
          <a:prstGeom prst="rect">
            <a:avLst/>
          </a:prstGeom>
          <a:noFill/>
        </p:spPr>
        <p:txBody>
          <a:bodyPr wrap="square" anchor="t" lIns="45720" rIns="45720" tIns="27432" bIns="27432">
            <a:spAutoFit/>
          </a:bodyPr>
          <a:lstStyle/>
          <a:p>
            <a:pPr algn="r">
              <a:spcAft>
                <a:spcPts val="600"/>
              </a:spcAft>
            </a:pPr>
            <a:r>
              <a:rPr sz="1600" b="1">
                <a:solidFill>
                  <a:srgbClr val="6B7785"/>
                </a:solidFill>
                <a:latin typeface="Arial"/>
              </a:rPr>
              <a:t>$24,778</a:t>
            </a:r>
          </a:p>
        </p:txBody>
      </p:sp>
      <p:sp>
        <p:nvSpPr>
          <p:cNvPr id="19" name="TextBox 18"/>
          <p:cNvSpPr txBox="1"/>
          <p:nvPr/>
        </p:nvSpPr>
        <p:spPr>
          <a:xfrm>
            <a:off x="7909560" y="4297680"/>
            <a:ext cx="3657600" cy="914400"/>
          </a:xfrm>
          <a:prstGeom prst="rect">
            <a:avLst/>
          </a:prstGeom>
          <a:noFill/>
        </p:spPr>
        <p:txBody>
          <a:bodyPr wrap="square" anchor="t" lIns="45720" rIns="45720" tIns="27432" bIns="27432">
            <a:spAutoFit/>
          </a:bodyPr>
          <a:lstStyle/>
          <a:p>
            <a:pPr algn="l">
              <a:spcAft>
                <a:spcPts val="600"/>
              </a:spcAft>
            </a:pPr>
            <a:r>
              <a:rPr sz="1050" b="0">
                <a:solidFill>
                  <a:srgbClr val="6B7785"/>
                </a:solidFill>
                <a:latin typeface="Arial"/>
              </a:rPr>
              <a:t>*Fully invested, max drawdown -77.1%. Not like-for-like: the court never claims to beat a bull market.</a:t>
            </a:r>
          </a:p>
        </p:txBody>
      </p:sp>
      <p:sp>
        <p:nvSpPr>
          <p:cNvPr id="20" name="Rectangle 19"/>
          <p:cNvSpPr/>
          <p:nvPr/>
        </p:nvSpPr>
        <p:spPr>
          <a:xfrm>
            <a:off x="548640" y="566928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66928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the court's value is not paying costs for an edge that does not survive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EVIDENCE 2: REAL DATA</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The models do beat a naive forecast, but their edge never reaches twice the cost: a result we reproduced</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Court receipts on real BTC; modelled cost 7.5 bp per switch (fee, slippage, square-root impact, gas), 2x margin required</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10</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3_funnel.png"/>
          <p:cNvPicPr>
            <a:picLocks noChangeAspect="1"/>
          </p:cNvPicPr>
          <p:nvPr/>
        </p:nvPicPr>
        <p:blipFill>
          <a:blip r:embed="rId3"/>
          <a:stretch>
            <a:fillRect/>
          </a:stretch>
        </p:blipFill>
        <p:spPr>
          <a:xfrm>
            <a:off x="548640" y="1508760"/>
            <a:ext cx="5577840" cy="2495799"/>
          </a:xfrm>
          <a:prstGeom prst="rect">
            <a:avLst/>
          </a:prstGeom>
        </p:spPr>
      </p:pic>
      <p:pic>
        <p:nvPicPr>
          <p:cNvPr id="9" name="Picture 8" descr="14_breakeven.png"/>
          <p:cNvPicPr>
            <a:picLocks noChangeAspect="1"/>
          </p:cNvPicPr>
          <p:nvPr/>
        </p:nvPicPr>
        <p:blipFill>
          <a:blip r:embed="rId4"/>
          <a:stretch>
            <a:fillRect/>
          </a:stretch>
        </p:blipFill>
        <p:spPr>
          <a:xfrm>
            <a:off x="6217920" y="1508760"/>
            <a:ext cx="5486400" cy="2829587"/>
          </a:xfrm>
          <a:prstGeom prst="rect">
            <a:avLst/>
          </a:prstGeom>
        </p:spPr>
      </p:pic>
      <p:sp>
        <p:nvSpPr>
          <p:cNvPr id="10" name="Rectangle 9"/>
          <p:cNvSpPr/>
          <p:nvPr/>
        </p:nvSpPr>
        <p:spPr>
          <a:xfrm>
            <a:off x="548640" y="566928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6928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WATCH is a real result: the pattern is statistically there but not tradable, so the wallet stays in reserve.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EVIDENCE 3: HONEST LIMITS</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Stress-testing exposed a weakness that we fixed and disclose: a GO is evidence about the past, not a guarantee</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Cost sweep on real BTC; regime guard added after the first replay (post hoc, therefore not an out-of-sample claim)</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11</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5_cost_sweep.png"/>
          <p:cNvPicPr>
            <a:picLocks noChangeAspect="1"/>
          </p:cNvPicPr>
          <p:nvPr/>
        </p:nvPicPr>
        <p:blipFill>
          <a:blip r:embed="rId3"/>
          <a:stretch>
            <a:fillRect/>
          </a:stretch>
        </p:blipFill>
        <p:spPr>
          <a:xfrm>
            <a:off x="548640" y="1508760"/>
            <a:ext cx="6949440" cy="3488468"/>
          </a:xfrm>
          <a:prstGeom prst="rect">
            <a:avLst/>
          </a:prstGeom>
        </p:spPr>
      </p:pic>
      <p:sp>
        <p:nvSpPr>
          <p:cNvPr id="9" name="TextBox 8"/>
          <p:cNvSpPr txBox="1"/>
          <p:nvPr/>
        </p:nvSpPr>
        <p:spPr>
          <a:xfrm>
            <a:off x="7680960" y="1645920"/>
            <a:ext cx="4023360" cy="4114800"/>
          </a:xfrm>
          <a:prstGeom prst="rect">
            <a:avLst/>
          </a:prstGeom>
          <a:noFill/>
        </p:spPr>
        <p:txBody>
          <a:bodyPr wrap="square">
            <a:spAutoFit/>
          </a:bodyPr>
          <a:lstStyle/>
          <a:p>
            <a:pPr>
              <a:spcAft>
                <a:spcPts val="1000"/>
              </a:spcAft>
            </a:pPr>
            <a:r>
              <a:rPr b="1" sz="1250">
                <a:solidFill>
                  <a:srgbClr val="0B1F3A"/>
                </a:solidFill>
                <a:latin typeface="Arial"/>
              </a:rPr>
              <a:t>Cost sweep. </a:t>
            </a:r>
            <a:r>
              <a:rPr sz="1250">
                <a:solidFill>
                  <a:srgbClr val="1B2430"/>
                </a:solidFill>
                <a:latin typeface="Arial"/>
              </a:rPr>
              <a:t>GO in 10 of 36 windows at zero cost (8 on an independent rerun), 1 at 0.25x, none at 0.5x or above.</a:t>
            </a:r>
          </a:p>
          <a:p>
            <a:pPr>
              <a:spcAft>
                <a:spcPts val="1000"/>
              </a:spcAft>
            </a:pPr>
            <a:r>
              <a:rPr b="1" sz="1250">
                <a:solidFill>
                  <a:srgbClr val="0B1F3A"/>
                </a:solidFill>
                <a:latin typeface="Arial"/>
              </a:rPr>
              <a:t>A failure we found. </a:t>
            </a:r>
            <a:r>
              <a:rPr sz="1250">
                <a:solidFill>
                  <a:srgbClr val="1B2430"/>
                </a:solidFill>
                <a:latin typeface="Arial"/>
              </a:rPr>
              <a:t>Zero-cost run lost money in the March 2020 crash.</a:t>
            </a:r>
          </a:p>
          <a:p>
            <a:pPr>
              <a:spcAft>
                <a:spcPts val="1000"/>
              </a:spcAft>
            </a:pPr>
            <a:r>
              <a:rPr b="1" sz="1250">
                <a:solidFill>
                  <a:srgbClr val="0B1F3A"/>
                </a:solidFill>
                <a:latin typeface="Arial"/>
              </a:rPr>
              <a:t>The fix. </a:t>
            </a:r>
            <a:r>
              <a:rPr sz="1250">
                <a:solidFill>
                  <a:srgbClr val="1B2430"/>
                </a:solidFill>
                <a:latin typeface="Arial"/>
              </a:rPr>
              <a:t>Regime guard: flat if recent volatility exceeds 3x the evidence window. Added after the fact, so we claim no out-of-sample benefit.</a:t>
            </a:r>
          </a:p>
          <a:p>
            <a:pPr>
              <a:spcAft>
                <a:spcPts val="1000"/>
              </a:spcAft>
            </a:pPr>
            <a:r>
              <a:rPr b="1" sz="1250">
                <a:solidFill>
                  <a:srgbClr val="0B1F3A"/>
                </a:solidFill>
                <a:latin typeface="Arial"/>
              </a:rPr>
              <a:t>Still true. </a:t>
            </a:r>
            <a:r>
              <a:rPr sz="1250">
                <a:solidFill>
                  <a:srgbClr val="1B2430"/>
                </a:solidFill>
                <a:latin typeface="Arial"/>
              </a:rPr>
              <a:t>At 0.25x cost one GO lost about 5%: GO is not a guarantee.</a:t>
            </a:r>
          </a:p>
        </p:txBody>
      </p:sp>
      <p:sp>
        <p:nvSpPr>
          <p:cNvPr id="10" name="Rectangle 9"/>
          <p:cNvSpPr/>
          <p:nvPr/>
        </p:nvSpPr>
        <p:spPr>
          <a:xfrm>
            <a:off x="548640" y="576072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caps, kill-switch and guard are essential; the honesty of the receipt is the product.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INNOVATION</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What is new: evidence before permission, pre-registered and attested, with refusals as first-class records</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Public descriptions of agent-wallet products and arXiv 2601.04583 (survey); positioning is our qualitative judgement; we did not find the same combination</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12</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8_positioning.png"/>
          <p:cNvPicPr>
            <a:picLocks noChangeAspect="1"/>
          </p:cNvPicPr>
          <p:nvPr/>
        </p:nvPicPr>
        <p:blipFill>
          <a:blip r:embed="rId3"/>
          <a:stretch>
            <a:fillRect/>
          </a:stretch>
        </p:blipFill>
        <p:spPr>
          <a:xfrm>
            <a:off x="548640" y="1508760"/>
            <a:ext cx="5120640" cy="3512295"/>
          </a:xfrm>
          <a:prstGeom prst="rect">
            <a:avLst/>
          </a:prstGeom>
        </p:spPr>
      </p:pic>
      <p:sp>
        <p:nvSpPr>
          <p:cNvPr id="9" name="TextBox 8"/>
          <p:cNvSpPr txBox="1"/>
          <p:nvPr/>
        </p:nvSpPr>
        <p:spPr>
          <a:xfrm>
            <a:off x="5943600" y="1645920"/>
            <a:ext cx="5760720" cy="4114800"/>
          </a:xfrm>
          <a:prstGeom prst="rect">
            <a:avLst/>
          </a:prstGeom>
          <a:noFill/>
        </p:spPr>
        <p:txBody>
          <a:bodyPr wrap="square">
            <a:spAutoFit/>
          </a:bodyPr>
          <a:lstStyle/>
          <a:p>
            <a:pPr>
              <a:spcAft>
                <a:spcPts val="1000"/>
              </a:spcAft>
            </a:pPr>
            <a:r>
              <a:rPr b="1" sz="1400">
                <a:solidFill>
                  <a:srgbClr val="0B1F3A"/>
                </a:solidFill>
                <a:latin typeface="Arial"/>
              </a:rPr>
              <a:t>1. Court gates. </a:t>
            </a:r>
            <a:r>
              <a:rPr sz="1400">
                <a:solidFill>
                  <a:srgbClr val="1B2430"/>
                </a:solidFill>
                <a:latin typeface="Arial"/>
              </a:rPr>
              <a:t>Classical econometrics as a permission layer.</a:t>
            </a:r>
          </a:p>
          <a:p>
            <a:pPr>
              <a:spcAft>
                <a:spcPts val="1000"/>
              </a:spcAft>
            </a:pPr>
            <a:r>
              <a:rPr b="1" sz="1400">
                <a:solidFill>
                  <a:srgbClr val="0B1F3A"/>
                </a:solidFill>
                <a:latin typeface="Arial"/>
              </a:rPr>
              <a:t>2. Data-snooping control. </a:t>
            </a:r>
            <a:r>
              <a:rPr sz="1400">
                <a:solidFill>
                  <a:srgbClr val="1B2430"/>
                </a:solidFill>
                <a:latin typeface="Arial"/>
              </a:rPr>
              <a:t>Holm over every candidate tried.</a:t>
            </a:r>
          </a:p>
          <a:p>
            <a:pPr>
              <a:spcAft>
                <a:spcPts val="1000"/>
              </a:spcAft>
            </a:pPr>
            <a:r>
              <a:rPr b="1" sz="1400">
                <a:solidFill>
                  <a:srgbClr val="0B1F3A"/>
                </a:solidFill>
                <a:latin typeface="Arial"/>
              </a:rPr>
              <a:t>3. Pre-registration. </a:t>
            </a:r>
            <a:r>
              <a:rPr sz="1400">
                <a:solidFill>
                  <a:srgbClr val="1B2430"/>
                </a:solidFill>
                <a:latin typeface="Arial"/>
              </a:rPr>
              <a:t>Protocol hashed before the data is examined.</a:t>
            </a:r>
          </a:p>
          <a:p>
            <a:pPr>
              <a:spcAft>
                <a:spcPts val="1000"/>
              </a:spcAft>
            </a:pPr>
            <a:r>
              <a:rPr b="1" sz="1400">
                <a:solidFill>
                  <a:srgbClr val="0B1F3A"/>
                </a:solidFill>
                <a:latin typeface="Arial"/>
              </a:rPr>
              <a:t>4. Attested refusals. </a:t>
            </a:r>
            <a:r>
              <a:rPr sz="1400">
                <a:solidFill>
                  <a:srgbClr val="1B2430"/>
                </a:solidFill>
                <a:latin typeface="Arial"/>
              </a:rPr>
              <a:t>Every HOLD and WATCH is a receipt, anchored on-chain.</a:t>
            </a:r>
          </a:p>
          <a:p>
            <a:pPr>
              <a:spcAft>
                <a:spcPts val="1000"/>
              </a:spcAft>
            </a:pPr>
            <a:r>
              <a:rPr b="1" sz="1400">
                <a:solidFill>
                  <a:srgbClr val="0B1F3A"/>
                </a:solidFill>
                <a:latin typeface="Arial"/>
              </a:rPr>
              <a:t>5. Language never reaches the key. </a:t>
            </a:r>
            <a:r>
              <a:rPr sz="1400">
                <a:solidFill>
                  <a:srgbClr val="1B2430"/>
                </a:solidFill>
                <a:latin typeface="Arial"/>
              </a:rPr>
              <a:t>Typed intents and a deterministic policy gate.</a:t>
            </a:r>
          </a:p>
        </p:txBody>
      </p:sp>
      <p:sp>
        <p:nvSpPr>
          <p:cNvPr id="10" name="Rectangle 9"/>
          <p:cNvSpPr/>
          <p:nvPr/>
        </p:nvSpPr>
        <p:spPr>
          <a:xfrm>
            <a:off x="548640" y="5760720"/>
            <a:ext cx="11064240" cy="56692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So what: the standard tests are old; putting them in front of an agent's key, with proof of refusal, is the new part.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INNOVATION</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Every gate is a standard, published method, so we can defend each line</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Standard methods</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13</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graphicFrame>
        <p:nvGraphicFramePr>
          <p:cNvPr id="8" name="Table 7"/>
          <p:cNvGraphicFramePr>
            <a:graphicFrameLocks noGrp="1"/>
          </p:cNvGraphicFramePr>
          <p:nvPr/>
        </p:nvGraphicFramePr>
        <p:xfrm>
          <a:off x="548640" y="1645920"/>
          <a:ext cx="11064240" cy="3474720"/>
        </p:xfrm>
        <a:graphic>
          <a:graphicData uri="http://schemas.openxmlformats.org/drawingml/2006/table">
            <a:tbl>
              <a:tblPr firstRow="1" bandRow="1">
                <a:tableStyleId>{5C22544A-7EE6-4342-B048-85BDC9FD1C3A}</a:tableStyleId>
              </a:tblPr>
              <a:tblGrid>
                <a:gridCol w="1371600"/>
                <a:gridCol w="5120640"/>
                <a:gridCol w="4572000"/>
              </a:tblGrid>
              <a:tr h="694944">
                <a:tc>
                  <a:txBody>
                    <a:bodyPr/>
                    <a:lstStyle/>
                    <a:p>
                      <a:r>
                        <a:rPr sz="1300" b="1">
                          <a:solidFill>
                            <a:srgbClr val="FFFFFF"/>
                          </a:solidFill>
                          <a:latin typeface="Arial"/>
                        </a:rPr>
                        <a:t>Topic</a:t>
                      </a:r>
                    </a:p>
                  </a:txBody>
                  <a:tcPr>
                    <a:solidFill>
                      <a:srgbClr val="0B1F3A"/>
                    </a:solidFill>
                  </a:tcPr>
                </a:tc>
                <a:tc>
                  <a:txBody>
                    <a:bodyPr/>
                    <a:lstStyle/>
                    <a:p>
                      <a:r>
                        <a:rPr sz="1300" b="1">
                          <a:solidFill>
                            <a:srgbClr val="FFFFFF"/>
                          </a:solidFill>
                          <a:latin typeface="Arial"/>
                        </a:rPr>
                        <a:t>Method</a:t>
                      </a:r>
                    </a:p>
                  </a:txBody>
                  <a:tcPr>
                    <a:solidFill>
                      <a:srgbClr val="0B1F3A"/>
                    </a:solidFill>
                  </a:tcPr>
                </a:tc>
                <a:tc>
                  <a:txBody>
                    <a:bodyPr/>
                    <a:lstStyle/>
                    <a:p>
                      <a:r>
                        <a:rPr sz="1300" b="1">
                          <a:solidFill>
                            <a:srgbClr val="FFFFFF"/>
                          </a:solidFill>
                          <a:latin typeface="Arial"/>
                        </a:rPr>
                        <a:t>Where it lives in NULL Wallet</a:t>
                      </a:r>
                    </a:p>
                  </a:txBody>
                  <a:tcPr>
                    <a:solidFill>
                      <a:srgbClr val="0B1F3A"/>
                    </a:solidFill>
                  </a:tcPr>
                </a:tc>
              </a:tr>
              <a:tr h="694944">
                <a:tc>
                  <a:txBody>
                    <a:bodyPr/>
                    <a:lstStyle/>
                    <a:p>
                      <a:r>
                        <a:rPr sz="1300" b="1">
                          <a:solidFill>
                            <a:srgbClr val="1B2430"/>
                          </a:solidFill>
                          <a:latin typeface="Arial"/>
                        </a:rPr>
                        <a:t>Assumptions</a:t>
                      </a:r>
                    </a:p>
                  </a:txBody>
                  <a:tcPr>
                    <a:solidFill>
                      <a:srgbClr val="FFFFFF"/>
                    </a:solidFill>
                  </a:tcPr>
                </a:tc>
                <a:tc>
                  <a:txBody>
                    <a:bodyPr/>
                    <a:lstStyle/>
                    <a:p>
                      <a:r>
                        <a:rPr sz="1300" b="0">
                          <a:solidFill>
                            <a:srgbClr val="1B2430"/>
                          </a:solidFill>
                          <a:latin typeface="Arial"/>
                        </a:rPr>
                        <a:t>Assumption tests (Breusch-Pagan, Jarque-Bera, Ljung-Box), endogeneity, Monte Carlo of size and power</a:t>
                      </a:r>
                    </a:p>
                  </a:txBody>
                  <a:tcPr>
                    <a:solidFill>
                      <a:srgbClr val="FFFFFF"/>
                    </a:solidFill>
                  </a:tcPr>
                </a:tc>
                <a:tc>
                  <a:txBody>
                    <a:bodyPr/>
                    <a:lstStyle/>
                    <a:p>
                      <a:r>
                        <a:rPr sz="1300" b="0">
                          <a:solidFill>
                            <a:srgbClr val="1B2430"/>
                          </a:solidFill>
                          <a:latin typeface="Arial"/>
                        </a:rPr>
                        <a:t>G1 assumption audit; G0 look-ahead audit; the 1,000-market stress test</a:t>
                      </a:r>
                    </a:p>
                  </a:txBody>
                  <a:tcPr>
                    <a:solidFill>
                      <a:srgbClr val="FFFFFF"/>
                    </a:solidFill>
                  </a:tcPr>
                </a:tc>
              </a:tr>
              <a:tr h="694944">
                <a:tc>
                  <a:txBody>
                    <a:bodyPr/>
                    <a:lstStyle/>
                    <a:p>
                      <a:r>
                        <a:rPr sz="1300" b="1">
                          <a:solidFill>
                            <a:srgbClr val="1B2430"/>
                          </a:solidFill>
                          <a:latin typeface="Arial"/>
                        </a:rPr>
                        <a:t>Forecasting</a:t>
                      </a:r>
                    </a:p>
                  </a:txBody>
                  <a:tcPr>
                    <a:solidFill>
                      <a:srgbClr val="F1F4F8"/>
                    </a:solidFill>
                  </a:tcPr>
                </a:tc>
                <a:tc>
                  <a:txBody>
                    <a:bodyPr/>
                    <a:lstStyle/>
                    <a:p>
                      <a:r>
                        <a:rPr sz="1300" b="0">
                          <a:solidFill>
                            <a:srgbClr val="1B2430"/>
                          </a:solidFill>
                          <a:latin typeface="Arial"/>
                        </a:rPr>
                        <a:t>Pseudo-out-of-sample forecasts, Diebold-Mariano, ADF/KPSS, COVID dummies</a:t>
                      </a:r>
                    </a:p>
                  </a:txBody>
                  <a:tcPr>
                    <a:solidFill>
                      <a:srgbClr val="F1F4F8"/>
                    </a:solidFill>
                  </a:tcPr>
                </a:tc>
                <a:tc>
                  <a:txBody>
                    <a:bodyPr/>
                    <a:lstStyle/>
                    <a:p>
                      <a:r>
                        <a:rPr sz="1300" b="0">
                          <a:solidFill>
                            <a:srgbClr val="1B2430"/>
                          </a:solidFill>
                          <a:latin typeface="Arial"/>
                        </a:rPr>
                        <a:t>G2 skill duel; G3 shock robustness; walk-forward models</a:t>
                      </a:r>
                    </a:p>
                  </a:txBody>
                  <a:tcPr>
                    <a:solidFill>
                      <a:srgbClr val="F1F4F8"/>
                    </a:solidFill>
                  </a:tcPr>
                </a:tc>
              </a:tr>
              <a:tr h="694944">
                <a:tc>
                  <a:txBody>
                    <a:bodyPr/>
                    <a:lstStyle/>
                    <a:p>
                      <a:r>
                        <a:rPr sz="1300" b="1">
                          <a:solidFill>
                            <a:srgbClr val="1B2430"/>
                          </a:solidFill>
                          <a:latin typeface="Arial"/>
                        </a:rPr>
                        <a:t>Costs and multiple testing</a:t>
                      </a:r>
                    </a:p>
                  </a:txBody>
                  <a:tcPr>
                    <a:solidFill>
                      <a:srgbClr val="FFFFFF"/>
                    </a:solidFill>
                  </a:tcPr>
                </a:tc>
                <a:tc>
                  <a:txBody>
                    <a:bodyPr/>
                    <a:lstStyle/>
                    <a:p>
                      <a:r>
                        <a:rPr sz="1300" b="0">
                          <a:solidFill>
                            <a:srgbClr val="1B2430"/>
                          </a:solidFill>
                          <a:latin typeface="Arial"/>
                        </a:rPr>
                        <a:t>Net-of-cost edge, break-even cost, data snooping, neutral zone, HOLD/WATCH</a:t>
                      </a:r>
                    </a:p>
                  </a:txBody>
                  <a:tcPr>
                    <a:solidFill>
                      <a:srgbClr val="FFFFFF"/>
                    </a:solidFill>
                  </a:tcPr>
                </a:tc>
                <a:tc>
                  <a:txBody>
                    <a:bodyPr/>
                    <a:lstStyle/>
                    <a:p>
                      <a:r>
                        <a:rPr sz="1300" b="0">
                          <a:solidFill>
                            <a:srgbClr val="1B2430"/>
                          </a:solidFill>
                          <a:latin typeface="Arial"/>
                        </a:rPr>
                        <a:t>G4 net edge; G5 cost margin; Holm over candidates; dead-band; verdicts</a:t>
                      </a:r>
                    </a:p>
                  </a:txBody>
                  <a:tcPr>
                    <a:solidFill>
                      <a:srgbClr val="FFFFFF"/>
                    </a:solidFill>
                  </a:tcPr>
                </a:tc>
              </a:tr>
              <a:tr h="694944">
                <a:tc>
                  <a:txBody>
                    <a:bodyPr/>
                    <a:lstStyle/>
                    <a:p>
                      <a:r>
                        <a:rPr sz="1300" b="1">
                          <a:solidFill>
                            <a:srgbClr val="1B2430"/>
                          </a:solidFill>
                          <a:latin typeface="Arial"/>
                        </a:rPr>
                        <a:t>New</a:t>
                      </a:r>
                    </a:p>
                  </a:txBody>
                  <a:tcPr>
                    <a:solidFill>
                      <a:srgbClr val="F1F4F8"/>
                    </a:solidFill>
                  </a:tcPr>
                </a:tc>
                <a:tc>
                  <a:txBody>
                    <a:bodyPr/>
                    <a:lstStyle/>
                    <a:p>
                      <a:r>
                        <a:rPr sz="1300" b="0">
                          <a:solidFill>
                            <a:srgbClr val="1B2430"/>
                          </a:solidFill>
                          <a:latin typeface="Arial"/>
                        </a:rPr>
                        <a:t>Policy tiers, pre-registration, ledger, on-chain attestation</a:t>
                      </a:r>
                    </a:p>
                  </a:txBody>
                  <a:tcPr>
                    <a:solidFill>
                      <a:srgbClr val="F1F4F8"/>
                    </a:solidFill>
                  </a:tcPr>
                </a:tc>
                <a:tc>
                  <a:txBody>
                    <a:bodyPr/>
                    <a:lstStyle/>
                    <a:p>
                      <a:r>
                        <a:rPr sz="1300" b="0">
                          <a:solidFill>
                            <a:srgbClr val="1B2430"/>
                          </a:solidFill>
                          <a:latin typeface="Arial"/>
                        </a:rPr>
                        <a:t>Security and execution layers</a:t>
                      </a:r>
                    </a:p>
                  </a:txBody>
                  <a:tcPr>
                    <a:solidFill>
                      <a:srgbClr val="F1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EXECUTION AND NEXT STEPS</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Execution evidence is reproducible in three commands, and the roadmap moves from sandbox to live paper trading</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Repository README and docs; on-chain transaction hashes are produced by the team on Base mainnet and listed in evidence/onchain_evidence.json</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14</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sp>
        <p:nvSpPr>
          <p:cNvPr id="8" name="Rectangle 7"/>
          <p:cNvSpPr/>
          <p:nvPr/>
        </p:nvSpPr>
        <p:spPr>
          <a:xfrm>
            <a:off x="548640" y="1645920"/>
            <a:ext cx="5577840" cy="38404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5303520" cy="365760"/>
          </a:xfrm>
          <a:prstGeom prst="rect">
            <a:avLst/>
          </a:prstGeom>
          <a:noFill/>
        </p:spPr>
        <p:txBody>
          <a:bodyPr wrap="square" anchor="t" lIns="45720" rIns="45720" tIns="27432" bIns="27432">
            <a:spAutoFit/>
          </a:bodyPr>
          <a:lstStyle/>
          <a:p>
            <a:pPr algn="l">
              <a:spcAft>
                <a:spcPts val="600"/>
              </a:spcAft>
            </a:pPr>
            <a:r>
              <a:rPr sz="1500" b="1">
                <a:solidFill>
                  <a:srgbClr val="0B1F3A"/>
                </a:solidFill>
                <a:latin typeface="Arial"/>
              </a:rPr>
              <a:t>Reproduce</a:t>
            </a:r>
          </a:p>
        </p:txBody>
      </p:sp>
      <p:sp>
        <p:nvSpPr>
          <p:cNvPr id="10" name="TextBox 9"/>
          <p:cNvSpPr txBox="1"/>
          <p:nvPr/>
        </p:nvSpPr>
        <p:spPr>
          <a:xfrm>
            <a:off x="731520" y="2194560"/>
            <a:ext cx="5303520" cy="3108960"/>
          </a:xfrm>
          <a:prstGeom prst="rect">
            <a:avLst/>
          </a:prstGeom>
          <a:noFill/>
        </p:spPr>
        <p:txBody>
          <a:bodyPr wrap="square" anchor="t" lIns="45720" rIns="45720" tIns="27432" bIns="27432">
            <a:spAutoFit/>
          </a:bodyPr>
          <a:lstStyle/>
          <a:p>
            <a:pPr algn="l">
              <a:spcAft>
                <a:spcPts val="600"/>
              </a:spcAft>
            </a:pPr>
            <a:r>
              <a:rPr sz="1300" b="0">
                <a:solidFill>
                  <a:srgbClr val="1B2430"/>
                </a:solidFill>
                <a:latin typeface="Courier New"/>
              </a:rPr>
              <a:t>pip install -r requirements.txt</a:t>
            </a:r>
          </a:p>
          <a:p>
            <a:pPr algn="l">
              <a:spcAft>
                <a:spcPts val="600"/>
              </a:spcAft>
            </a:pPr>
            <a:r>
              <a:rPr sz="1300" b="0">
                <a:solidFill>
                  <a:srgbClr val="1B2430"/>
                </a:solidFill>
                <a:latin typeface="Courier New"/>
              </a:rPr>
              <a:t>python -m unittest discover -s tests</a:t>
            </a:r>
          </a:p>
          <a:p>
            <a:pPr algn="l">
              <a:spcAft>
                <a:spcPts val="600"/>
              </a:spcAft>
            </a:pPr>
            <a:r>
              <a:rPr sz="1300" b="0">
                <a:solidFill>
                  <a:srgbClr val="1B2430"/>
                </a:solidFill>
                <a:latin typeface="Courier New"/>
              </a:rPr>
              <a:t>python run_all.py &lt;ohlcv.csv&gt;</a:t>
            </a:r>
          </a:p>
          <a:p>
            <a:pPr algn="l">
              <a:spcAft>
                <a:spcPts val="600"/>
              </a:spcAft>
            </a:pPr>
            <a:r>
              <a:rPr sz="1300" b="0">
                <a:solidFill>
                  <a:srgbClr val="1B2430"/>
                </a:solidFill>
                <a:latin typeface="Courier New"/>
              </a:rPr>
              <a:t>python -m nullwallet.webapp ledger.jsonl</a:t>
            </a:r>
          </a:p>
          <a:p>
            <a:pPr algn="l">
              <a:spcAft>
                <a:spcPts val="600"/>
              </a:spcAft>
            </a:pPr>
            <a:r>
              <a:rPr sz="1300" b="0">
                <a:solidFill>
                  <a:srgbClr val="1B2430"/>
                </a:solidFill>
                <a:latin typeface="Courier New"/>
              </a:rPr>
              <a:t>python onchain_demo.py ledger.jsonl --send</a:t>
            </a:r>
          </a:p>
        </p:txBody>
      </p:sp>
      <p:sp>
        <p:nvSpPr>
          <p:cNvPr id="11" name="TextBox 10"/>
          <p:cNvSpPr txBox="1"/>
          <p:nvPr/>
        </p:nvSpPr>
        <p:spPr>
          <a:xfrm>
            <a:off x="731520" y="4572000"/>
            <a:ext cx="5303520" cy="822960"/>
          </a:xfrm>
          <a:prstGeom prst="rect">
            <a:avLst/>
          </a:prstGeom>
          <a:noFill/>
        </p:spPr>
        <p:txBody>
          <a:bodyPr wrap="square" anchor="t" lIns="45720" rIns="45720" tIns="27432" bIns="27432">
            <a:spAutoFit/>
          </a:bodyPr>
          <a:lstStyle/>
          <a:p>
            <a:pPr algn="l">
              <a:spcAft>
                <a:spcPts val="600"/>
              </a:spcAft>
            </a:pPr>
            <a:r>
              <a:rPr sz="1100" b="0">
                <a:solidFill>
                  <a:srgbClr val="6B7785"/>
                </a:solidFill>
                <a:latin typeface="Arial"/>
              </a:rPr>
              <a:t>On-chain on Base mainnet (real network, a few USD of ETH, throwaway wallet): attestations of the ledger head and refusals (T1); a capped vault transfer only if a GO exists (T2). Six mined transactions (status 1): 0x32979e5b25...; 0xa13ad80079...; 0xfa87dfe124...; 0xdedaebaf06...; 0x7dc685ff94...; 0x33f08991f7...</a:t>
            </a:r>
          </a:p>
        </p:txBody>
      </p:sp>
      <p:pic>
        <p:nvPicPr>
          <p:cNvPr id="12" name="Picture 11" descr="09_roadmap.png"/>
          <p:cNvPicPr>
            <a:picLocks noChangeAspect="1"/>
          </p:cNvPicPr>
          <p:nvPr/>
        </p:nvPicPr>
        <p:blipFill>
          <a:blip r:embed="rId3"/>
          <a:stretch>
            <a:fillRect/>
          </a:stretch>
        </p:blipFill>
        <p:spPr>
          <a:xfrm>
            <a:off x="6309360" y="1737360"/>
            <a:ext cx="5394960" cy="2850168"/>
          </a:xfrm>
          <a:prstGeom prst="rect">
            <a:avLst/>
          </a:prstGeom>
        </p:spPr>
      </p:pic>
      <p:sp>
        <p:nvSpPr>
          <p:cNvPr id="13" name="Rectangle 12"/>
          <p:cNvSpPr/>
          <p:nvPr/>
        </p:nvSpPr>
        <p:spPr>
          <a:xfrm>
            <a:off x="548640" y="5760720"/>
            <a:ext cx="11064240" cy="566928"/>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760720"/>
            <a:ext cx="10789919" cy="566928"/>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Ask: feedback on cost assumptions and a path to live paper trading with licensed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A: the hash-chained ledger makes edits, deletions and reordering detectable</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nullwallet/ledger.py; tests/test_redteam.py (LedgerTamper)</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15</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4_ledger_chain.png"/>
          <p:cNvPicPr>
            <a:picLocks noChangeAspect="1"/>
          </p:cNvPicPr>
          <p:nvPr/>
        </p:nvPicPr>
        <p:blipFill>
          <a:blip r:embed="rId3"/>
          <a:stretch>
            <a:fillRect/>
          </a:stretch>
        </p:blipFill>
        <p:spPr>
          <a:xfrm>
            <a:off x="548640" y="1645920"/>
            <a:ext cx="11064240" cy="336503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B: a language request can never reach the signer without passing the deterministic policy</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nullwallet/chat.py, policy.py, onchain.py</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16</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07_sequence.png"/>
          <p:cNvPicPr>
            <a:picLocks noChangeAspect="1"/>
          </p:cNvPicPr>
          <p:nvPr/>
        </p:nvPicPr>
        <p:blipFill>
          <a:blip r:embed="rId3"/>
          <a:stretch>
            <a:fillRect/>
          </a:stretch>
        </p:blipFill>
        <p:spPr>
          <a:xfrm>
            <a:off x="1280160" y="1508760"/>
            <a:ext cx="9509760" cy="451193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C: classical regression assumptions fail on real BTC returns, so the court always uses robust inference</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Gate G1 on the real BTC sample</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17</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9_assumptions.png"/>
          <p:cNvPicPr>
            <a:picLocks noChangeAspect="1"/>
          </p:cNvPicPr>
          <p:nvPr/>
        </p:nvPicPr>
        <p:blipFill>
          <a:blip r:embed="rId3"/>
          <a:stretch>
            <a:fillRect/>
          </a:stretch>
        </p:blipFill>
        <p:spPr>
          <a:xfrm>
            <a:off x="1097280" y="1645920"/>
            <a:ext cx="9875520" cy="309228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D: after costs, the mean excess return of the GBM and reversal models is below zero in 36 and 35 of 36 windows</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95% block-bootstrap intervals per 30-day window</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18</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pic>
        <p:nvPicPr>
          <p:cNvPr id="8" name="Picture 7" descr="16_excess_ci.png"/>
          <p:cNvPicPr>
            <a:picLocks noChangeAspect="1"/>
          </p:cNvPicPr>
          <p:nvPr/>
        </p:nvPicPr>
        <p:blipFill>
          <a:blip r:embed="rId3"/>
          <a:stretch>
            <a:fillRect/>
          </a:stretch>
        </p:blipFill>
        <p:spPr>
          <a:xfrm>
            <a:off x="548640" y="1645920"/>
            <a:ext cx="11064240" cy="459437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E: known risks and limits we state openly</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docs/Security_Self_Assessment and technical documentation, Section 10</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19</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graphicFrame>
        <p:nvGraphicFramePr>
          <p:cNvPr id="8" name="Table 7"/>
          <p:cNvGraphicFramePr>
            <a:graphicFrameLocks noGrp="1"/>
          </p:cNvGraphicFramePr>
          <p:nvPr/>
        </p:nvGraphicFramePr>
        <p:xfrm>
          <a:off x="548640" y="1645920"/>
          <a:ext cx="11064240" cy="4114800"/>
        </p:xfrm>
        <a:graphic>
          <a:graphicData uri="http://schemas.openxmlformats.org/drawingml/2006/table">
            <a:tbl>
              <a:tblPr firstRow="1" bandRow="1">
                <a:tableStyleId>{5C22544A-7EE6-4342-B048-85BDC9FD1C3A}</a:tableStyleId>
              </a:tblPr>
              <a:tblGrid>
                <a:gridCol w="5532120"/>
                <a:gridCol w="5532120"/>
              </a:tblGrid>
              <a:tr h="514350">
                <a:tc>
                  <a:txBody>
                    <a:bodyPr/>
                    <a:lstStyle/>
                    <a:p>
                      <a:r>
                        <a:rPr sz="1300" b="1">
                          <a:solidFill>
                            <a:srgbClr val="FFFFFF"/>
                          </a:solidFill>
                          <a:latin typeface="Arial"/>
                        </a:rPr>
                        <a:t>Limitation</a:t>
                      </a:r>
                    </a:p>
                  </a:txBody>
                  <a:tcPr>
                    <a:solidFill>
                      <a:srgbClr val="0B1F3A"/>
                    </a:solidFill>
                  </a:tcPr>
                </a:tc>
                <a:tc>
                  <a:txBody>
                    <a:bodyPr/>
                    <a:lstStyle/>
                    <a:p>
                      <a:r>
                        <a:rPr sz="1300" b="1">
                          <a:solidFill>
                            <a:srgbClr val="FFFFFF"/>
                          </a:solidFill>
                          <a:latin typeface="Arial"/>
                        </a:rPr>
                        <a:t>Mitigation or plan</a:t>
                      </a:r>
                    </a:p>
                  </a:txBody>
                  <a:tcPr>
                    <a:solidFill>
                      <a:srgbClr val="0B1F3A"/>
                    </a:solidFill>
                  </a:tcPr>
                </a:tc>
              </a:tr>
              <a:tr h="514350">
                <a:tc>
                  <a:txBody>
                    <a:bodyPr/>
                    <a:lstStyle/>
                    <a:p>
                      <a:r>
                        <a:rPr sz="1300" b="0">
                          <a:solidFill>
                            <a:srgbClr val="1B2430"/>
                          </a:solidFill>
                          <a:latin typeface="Arial"/>
                        </a:rPr>
                        <a:t>Sandbox, not live trading; costs are assumptions</a:t>
                      </a:r>
                    </a:p>
                  </a:txBody>
                  <a:tcPr>
                    <a:solidFill>
                      <a:srgbClr val="FFFFFF"/>
                    </a:solidFill>
                  </a:tcPr>
                </a:tc>
                <a:tc>
                  <a:txBody>
                    <a:bodyPr/>
                    <a:lstStyle/>
                    <a:p>
                      <a:r>
                        <a:rPr sz="1300" b="0">
                          <a:solidFill>
                            <a:srgbClr val="1B2430"/>
                          </a:solidFill>
                          <a:latin typeface="Arial"/>
                        </a:rPr>
                        <a:t>Cost sweep; live paper trading next</a:t>
                      </a:r>
                    </a:p>
                  </a:txBody>
                  <a:tcPr>
                    <a:solidFill>
                      <a:srgbClr val="FFFFFF"/>
                    </a:solidFill>
                  </a:tcPr>
                </a:tc>
              </a:tr>
              <a:tr h="514350">
                <a:tc>
                  <a:txBody>
                    <a:bodyPr/>
                    <a:lstStyle/>
                    <a:p>
                      <a:r>
                        <a:rPr sz="1300" b="0">
                          <a:solidFill>
                            <a:srgbClr val="1B2430"/>
                          </a:solidFill>
                          <a:latin typeface="Arial"/>
                        </a:rPr>
                        <a:t>A GO is evidence about the past</a:t>
                      </a:r>
                    </a:p>
                  </a:txBody>
                  <a:tcPr>
                    <a:solidFill>
                      <a:srgbClr val="F1F4F8"/>
                    </a:solidFill>
                  </a:tcPr>
                </a:tc>
                <a:tc>
                  <a:txBody>
                    <a:bodyPr/>
                    <a:lstStyle/>
                    <a:p>
                      <a:r>
                        <a:rPr sz="1300" b="0">
                          <a:solidFill>
                            <a:srgbClr val="1B2430"/>
                          </a:solidFill>
                          <a:latin typeface="Arial"/>
                        </a:rPr>
                        <a:t>Regime guard (post hoc), caps, kill-switch</a:t>
                      </a:r>
                    </a:p>
                  </a:txBody>
                  <a:tcPr>
                    <a:solidFill>
                      <a:srgbClr val="F1F4F8"/>
                    </a:solidFill>
                  </a:tcPr>
                </a:tc>
              </a:tr>
              <a:tr h="514350">
                <a:tc>
                  <a:txBody>
                    <a:bodyPr/>
                    <a:lstStyle/>
                    <a:p>
                      <a:r>
                        <a:rPr sz="1300" b="0">
                          <a:solidFill>
                            <a:srgbClr val="1B2430"/>
                          </a:solidFill>
                          <a:latin typeface="Arial"/>
                        </a:rPr>
                        <a:t>Monthly tests repeat, inflating false positives over time</a:t>
                      </a:r>
                    </a:p>
                  </a:txBody>
                  <a:tcPr>
                    <a:solidFill>
                      <a:srgbClr val="FFFFFF"/>
                    </a:solidFill>
                  </a:tcPr>
                </a:tc>
                <a:tc>
                  <a:txBody>
                    <a:bodyPr/>
                    <a:lstStyle/>
                    <a:p>
                      <a:r>
                        <a:rPr sz="1300" b="0">
                          <a:solidFill>
                            <a:srgbClr val="1B2430"/>
                          </a:solidFill>
                          <a:latin typeface="Arial"/>
                        </a:rPr>
                        <a:t>Four-gate rule; alpha-spending planned</a:t>
                      </a:r>
                    </a:p>
                  </a:txBody>
                  <a:tcPr>
                    <a:solidFill>
                      <a:srgbClr val="FFFFFF"/>
                    </a:solidFill>
                  </a:tcPr>
                </a:tc>
              </a:tr>
              <a:tr h="514350">
                <a:tc>
                  <a:txBody>
                    <a:bodyPr/>
                    <a:lstStyle/>
                    <a:p>
                      <a:r>
                        <a:rPr sz="1300" b="0">
                          <a:solidFill>
                            <a:srgbClr val="1B2430"/>
                          </a:solidFill>
                          <a:latin typeface="Arial"/>
                        </a:rPr>
                        <a:t>One main real dataset</a:t>
                      </a:r>
                    </a:p>
                  </a:txBody>
                  <a:tcPr>
                    <a:solidFill>
                      <a:srgbClr val="F1F4F8"/>
                    </a:solidFill>
                  </a:tcPr>
                </a:tc>
                <a:tc>
                  <a:txBody>
                    <a:bodyPr/>
                    <a:lstStyle/>
                    <a:p>
                      <a:r>
                        <a:rPr sz="1300" b="0">
                          <a:solidFill>
                            <a:srgbClr val="1B2430"/>
                          </a:solidFill>
                          <a:latin typeface="Arial"/>
                        </a:rPr>
                        <a:t>Synthetic markets; downloader for public data</a:t>
                      </a:r>
                    </a:p>
                  </a:txBody>
                  <a:tcPr>
                    <a:solidFill>
                      <a:srgbClr val="F1F4F8"/>
                    </a:solidFill>
                  </a:tcPr>
                </a:tc>
              </a:tr>
              <a:tr h="514350">
                <a:tc>
                  <a:txBody>
                    <a:bodyPr/>
                    <a:lstStyle/>
                    <a:p>
                      <a:r>
                        <a:rPr sz="1300" b="0">
                          <a:solidFill>
                            <a:srgbClr val="1B2430"/>
                          </a:solidFill>
                          <a:latin typeface="Arial"/>
                        </a:rPr>
                        <a:t>Ledger tail can be cut unless anchored</a:t>
                      </a:r>
                    </a:p>
                  </a:txBody>
                  <a:tcPr>
                    <a:solidFill>
                      <a:srgbClr val="FFFFFF"/>
                    </a:solidFill>
                  </a:tcPr>
                </a:tc>
                <a:tc>
                  <a:txBody>
                    <a:bodyPr/>
                    <a:lstStyle/>
                    <a:p>
                      <a:r>
                        <a:rPr sz="1300" b="0">
                          <a:solidFill>
                            <a:srgbClr val="1B2430"/>
                          </a:solidFill>
                          <a:latin typeface="Arial"/>
                        </a:rPr>
                        <a:t>On-chain head attestation</a:t>
                      </a:r>
                    </a:p>
                  </a:txBody>
                  <a:tcPr>
                    <a:solidFill>
                      <a:srgbClr val="FFFFFF"/>
                    </a:solidFill>
                  </a:tcPr>
                </a:tc>
              </a:tr>
              <a:tr h="514350">
                <a:tc>
                  <a:txBody>
                    <a:bodyPr/>
                    <a:lstStyle/>
                    <a:p>
                      <a:r>
                        <a:rPr sz="1300" b="0">
                          <a:solidFill>
                            <a:srgbClr val="1B2430"/>
                          </a:solidFill>
                          <a:latin typeface="Arial"/>
                        </a:rPr>
                        <a:t>Pure-Python signer is not constant-time</a:t>
                      </a:r>
                    </a:p>
                  </a:txBody>
                  <a:tcPr>
                    <a:solidFill>
                      <a:srgbClr val="F1F4F8"/>
                    </a:solidFill>
                  </a:tcPr>
                </a:tc>
                <a:tc>
                  <a:txBody>
                    <a:bodyPr/>
                    <a:lstStyle/>
                    <a:p>
                      <a:r>
                        <a:rPr sz="1300" b="0">
                          <a:solidFill>
                            <a:srgbClr val="1B2430"/>
                          </a:solidFill>
                          <a:latin typeface="Arial"/>
                        </a:rPr>
                        <a:t>Throwaway low-balance keys only; hardware/MPC signer for production</a:t>
                      </a:r>
                    </a:p>
                  </a:txBody>
                  <a:tcPr>
                    <a:solidFill>
                      <a:srgbClr val="F1F4F8"/>
                    </a:solidFill>
                  </a:tcPr>
                </a:tc>
              </a:tr>
              <a:tr h="514350">
                <a:tc>
                  <a:txBody>
                    <a:bodyPr/>
                    <a:lstStyle/>
                    <a:p>
                      <a:r>
                        <a:rPr sz="1300" b="0">
                          <a:solidFill>
                            <a:srgbClr val="1B2430"/>
                          </a:solidFill>
                          <a:latin typeface="Arial"/>
                        </a:rPr>
                        <a:t>Parser patterns can be evaded</a:t>
                      </a:r>
                    </a:p>
                  </a:txBody>
                  <a:tcPr>
                    <a:solidFill>
                      <a:srgbClr val="FFFFFF"/>
                    </a:solidFill>
                  </a:tcPr>
                </a:tc>
                <a:tc>
                  <a:txBody>
                    <a:bodyPr/>
                    <a:lstStyle/>
                    <a:p>
                      <a:r>
                        <a:rPr sz="1300" b="0">
                          <a:solidFill>
                            <a:srgbClr val="1B2430"/>
                          </a:solidFill>
                          <a:latin typeface="Arial"/>
                        </a:rPr>
                        <a:t>Policy engine is the real barrier</a:t>
                      </a:r>
                    </a:p>
                  </a:txBody>
                  <a:tcP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F: six real Base mainnet transactions are mined, and each anchors a hash that exists in the ledger</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evidence/onchain_evidence.json; verify_onchain.py; chain id 8453</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20</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sp>
        <p:nvSpPr>
          <p:cNvPr id="8" name="TextBox 7"/>
          <p:cNvSpPr txBox="1"/>
          <p:nvPr/>
        </p:nvSpPr>
        <p:spPr>
          <a:xfrm>
            <a:off x="731520" y="1737360"/>
            <a:ext cx="10789920" cy="4114800"/>
          </a:xfrm>
          <a:prstGeom prst="rect">
            <a:avLst/>
          </a:prstGeom>
          <a:noFill/>
        </p:spPr>
        <p:txBody>
          <a:bodyPr wrap="square">
            <a:spAutoFit/>
          </a:bodyPr>
          <a:lstStyle/>
          <a:p>
            <a:pPr>
              <a:spcAft>
                <a:spcPts val="1000"/>
              </a:spcAft>
            </a:pPr>
            <a:r>
              <a:rPr b="1" sz="1300">
                <a:solidFill>
                  <a:srgbClr val="0B1F3A"/>
                </a:solidFill>
                <a:latin typeface="Arial"/>
              </a:rPr>
              <a:t>attest ledger head. </a:t>
            </a:r>
            <a:r>
              <a:rPr sz="1300">
                <a:solidFill>
                  <a:srgbClr val="1B2430"/>
                </a:solidFill>
                <a:latin typeface="Arial"/>
              </a:rPr>
              <a:t>block 52722388, status 1, 0x32979e5b253e18426f8a15384ced20d46a94b67047a488f1d705beb67352961c</a:t>
            </a:r>
          </a:p>
          <a:p>
            <a:pPr>
              <a:spcAft>
                <a:spcPts val="1000"/>
              </a:spcAft>
            </a:pPr>
            <a:r>
              <a:rPr b="1" sz="1300">
                <a:solidFill>
                  <a:srgbClr val="0B1F3A"/>
                </a:solidFill>
                <a:latin typeface="Arial"/>
              </a:rPr>
              <a:t>attested refusal seq=64. </a:t>
            </a:r>
            <a:r>
              <a:rPr sz="1300">
                <a:solidFill>
                  <a:srgbClr val="1B2430"/>
                </a:solidFill>
                <a:latin typeface="Arial"/>
              </a:rPr>
              <a:t>block 52722389, status 1, 0xa13ad8007943961bbbfc303e3494bf2de5c9bf354a15e6badec2d38a12a440ae</a:t>
            </a:r>
          </a:p>
          <a:p>
            <a:pPr>
              <a:spcAft>
                <a:spcPts val="1000"/>
              </a:spcAft>
            </a:pPr>
            <a:r>
              <a:rPr b="1" sz="1300">
                <a:solidFill>
                  <a:srgbClr val="0B1F3A"/>
                </a:solidFill>
                <a:latin typeface="Arial"/>
              </a:rPr>
              <a:t>attested refusal seq=66. </a:t>
            </a:r>
            <a:r>
              <a:rPr sz="1300">
                <a:solidFill>
                  <a:srgbClr val="1B2430"/>
                </a:solidFill>
                <a:latin typeface="Arial"/>
              </a:rPr>
              <a:t>block 52722391, status 1, 0xfa87dfe124a1c0b4c00cbe5dabe0f483a2c968c7eda3733f720a7af119f4e058</a:t>
            </a:r>
          </a:p>
          <a:p>
            <a:pPr>
              <a:spcAft>
                <a:spcPts val="1000"/>
              </a:spcAft>
            </a:pPr>
            <a:r>
              <a:rPr b="1" sz="1300">
                <a:solidFill>
                  <a:srgbClr val="0B1F3A"/>
                </a:solidFill>
                <a:latin typeface="Arial"/>
              </a:rPr>
              <a:t>attested refusal seq=68. </a:t>
            </a:r>
            <a:r>
              <a:rPr sz="1300">
                <a:solidFill>
                  <a:srgbClr val="1B2430"/>
                </a:solidFill>
                <a:latin typeface="Arial"/>
              </a:rPr>
              <a:t>block 52722393, status 1, 0xdedaebaf061ed6ac16015e498f6e2a53e470d70035193121eed65ea784ad2a45</a:t>
            </a:r>
          </a:p>
          <a:p>
            <a:pPr>
              <a:spcAft>
                <a:spcPts val="1000"/>
              </a:spcAft>
            </a:pPr>
            <a:r>
              <a:rPr b="1" sz="1300">
                <a:solidFill>
                  <a:srgbClr val="0B1F3A"/>
                </a:solidFill>
                <a:latin typeface="Arial"/>
              </a:rPr>
              <a:t>attested refusal seq=70. </a:t>
            </a:r>
            <a:r>
              <a:rPr sz="1300">
                <a:solidFill>
                  <a:srgbClr val="1B2430"/>
                </a:solidFill>
                <a:latin typeface="Arial"/>
              </a:rPr>
              <a:t>block 52722395, status 1, 0x7dc685ff946cda0f66a650469e6afd9474ad54ab86533d9cf0ef7c5dc7a7899a</a:t>
            </a:r>
          </a:p>
          <a:p>
            <a:pPr>
              <a:spcAft>
                <a:spcPts val="1000"/>
              </a:spcAft>
            </a:pPr>
            <a:r>
              <a:rPr b="1" sz="1300">
                <a:solidFill>
                  <a:srgbClr val="0B1F3A"/>
                </a:solidFill>
                <a:latin typeface="Arial"/>
              </a:rPr>
              <a:t>attested refusal seq=72. </a:t>
            </a:r>
            <a:r>
              <a:rPr sz="1300">
                <a:solidFill>
                  <a:srgbClr val="1B2430"/>
                </a:solidFill>
                <a:latin typeface="Arial"/>
              </a:rPr>
              <a:t>block 52722395, status 1, 0x33f08991f78776b2b72348e879c458a9f3fa81e1fc4a3ecf2959d06279472c68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anchor="t" lIns="45720" rIns="45720" tIns="27432" bIns="27432">
            <a:spAutoFit/>
          </a:bodyPr>
          <a:lstStyle/>
          <a:p>
            <a:pPr algn="l">
              <a:spcAft>
                <a:spcPts val="600"/>
              </a:spcAft>
            </a:pPr>
            <a:r>
              <a:rPr sz="1000" b="1">
                <a:solidFill>
                  <a:srgbClr val="0A9396"/>
                </a:solidFill>
                <a:latin typeface="Arial"/>
              </a:rPr>
              <a:t>APPENDIX</a:t>
            </a:r>
          </a:p>
        </p:txBody>
      </p:sp>
      <p:sp>
        <p:nvSpPr>
          <p:cNvPr id="3" name="TextBox 2"/>
          <p:cNvSpPr txBox="1"/>
          <p:nvPr/>
        </p:nvSpPr>
        <p:spPr>
          <a:xfrm>
            <a:off x="502920" y="457200"/>
            <a:ext cx="11155680" cy="914400"/>
          </a:xfrm>
          <a:prstGeom prst="rect">
            <a:avLst/>
          </a:prstGeom>
          <a:noFill/>
        </p:spPr>
        <p:txBody>
          <a:bodyPr wrap="square" anchor="t" lIns="45720" rIns="45720" tIns="27432" bIns="27432">
            <a:spAutoFit/>
          </a:bodyPr>
          <a:lstStyle/>
          <a:p>
            <a:pPr algn="l">
              <a:spcAft>
                <a:spcPts val="600"/>
              </a:spcAft>
            </a:pPr>
            <a:r>
              <a:rPr sz="2400" b="1">
                <a:solidFill>
                  <a:srgbClr val="0B1F3A"/>
                </a:solidFill>
                <a:latin typeface="Arial"/>
              </a:rPr>
              <a:t>Appendix G: our tests equal reference code to rounding error; the HAC test is slightly oversized, so G4 adds further gates</a:t>
            </a:r>
          </a:p>
        </p:txBody>
      </p:sp>
      <p:sp>
        <p:nvSpPr>
          <p:cNvPr id="4" name="Rectangle 3"/>
          <p:cNvSpPr/>
          <p:nvPr/>
        </p:nvSpPr>
        <p:spPr>
          <a:xfrm>
            <a:off x="548640" y="1371600"/>
            <a:ext cx="11064240" cy="274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0"/>
            <a:ext cx="10332720" cy="274320"/>
          </a:xfrm>
          <a:prstGeom prst="rect">
            <a:avLst/>
          </a:prstGeom>
          <a:noFill/>
        </p:spPr>
        <p:txBody>
          <a:bodyPr wrap="square" anchor="t" lIns="45720" rIns="45720" tIns="27432" bIns="27432">
            <a:spAutoFit/>
          </a:bodyPr>
          <a:lstStyle/>
          <a:p>
            <a:pPr algn="l">
              <a:spcAft>
                <a:spcPts val="600"/>
              </a:spcAft>
            </a:pPr>
            <a:r>
              <a:rPr sz="900" b="0">
                <a:solidFill>
                  <a:srgbClr val="6B7785"/>
                </a:solidFill>
                <a:latin typeface="Arial"/>
              </a:rPr>
              <a:t>Source: audit_stats.py; results/stats_audit.json</a:t>
            </a:r>
          </a:p>
        </p:txBody>
      </p:sp>
      <p:sp>
        <p:nvSpPr>
          <p:cNvPr id="6" name="TextBox 5"/>
          <p:cNvSpPr txBox="1"/>
          <p:nvPr/>
        </p:nvSpPr>
        <p:spPr>
          <a:xfrm>
            <a:off x="11155680" y="6400800"/>
            <a:ext cx="548640" cy="274320"/>
          </a:xfrm>
          <a:prstGeom prst="rect">
            <a:avLst/>
          </a:prstGeom>
          <a:noFill/>
        </p:spPr>
        <p:txBody>
          <a:bodyPr wrap="square" anchor="t" lIns="45720" rIns="45720" tIns="27432" bIns="27432">
            <a:spAutoFit/>
          </a:bodyPr>
          <a:lstStyle/>
          <a:p>
            <a:pPr algn="r">
              <a:spcAft>
                <a:spcPts val="600"/>
              </a:spcAft>
            </a:pPr>
            <a:r>
              <a:rPr sz="1000" b="0">
                <a:solidFill>
                  <a:srgbClr val="6B7785"/>
                </a:solidFill>
                <a:latin typeface="Arial"/>
              </a:rPr>
              <a:t>21</a:t>
            </a:r>
          </a:p>
        </p:txBody>
      </p:sp>
      <p:sp>
        <p:nvSpPr>
          <p:cNvPr id="7" name="TextBox 6"/>
          <p:cNvSpPr txBox="1"/>
          <p:nvPr/>
        </p:nvSpPr>
        <p:spPr>
          <a:xfrm>
            <a:off x="8503920" y="201168"/>
            <a:ext cx="3200400" cy="274320"/>
          </a:xfrm>
          <a:prstGeom prst="rect">
            <a:avLst/>
          </a:prstGeom>
          <a:noFill/>
        </p:spPr>
        <p:txBody>
          <a:bodyPr wrap="square" anchor="t" lIns="45720" rIns="45720" tIns="27432" bIns="27432">
            <a:spAutoFit/>
          </a:bodyPr>
          <a:lstStyle/>
          <a:p>
            <a:pPr algn="r">
              <a:spcAft>
                <a:spcPts val="600"/>
              </a:spcAft>
            </a:pPr>
            <a:r>
              <a:rPr sz="1000" b="1">
                <a:solidFill>
                  <a:srgbClr val="6B7785"/>
                </a:solidFill>
                <a:latin typeface="Arial"/>
              </a:rPr>
              <a:t>NULL Wallet</a:t>
            </a:r>
          </a:p>
        </p:txBody>
      </p:sp>
      <p:sp>
        <p:nvSpPr>
          <p:cNvPr id="8" name="TextBox 7"/>
          <p:cNvSpPr txBox="1"/>
          <p:nvPr/>
        </p:nvSpPr>
        <p:spPr>
          <a:xfrm>
            <a:off x="731520" y="1737360"/>
            <a:ext cx="10789920" cy="4114800"/>
          </a:xfrm>
          <a:prstGeom prst="rect">
            <a:avLst/>
          </a:prstGeom>
          <a:noFill/>
        </p:spPr>
        <p:txBody>
          <a:bodyPr wrap="square">
            <a:spAutoFit/>
          </a:bodyPr>
          <a:lstStyle/>
          <a:p>
            <a:pPr>
              <a:spcAft>
                <a:spcPts val="1000"/>
              </a:spcAft>
            </a:pPr>
            <a:r>
              <a:rPr b="1" sz="1300">
                <a:solidFill>
                  <a:srgbClr val="0B1F3A"/>
                </a:solidFill>
                <a:latin typeface="Arial"/>
              </a:rPr>
              <a:t>HAC t (one-sided 5%), iid null, n=720. </a:t>
            </a:r>
            <a:r>
              <a:rPr sz="1300">
                <a:solidFill>
                  <a:srgbClr val="1B2430"/>
                </a:solidFill>
                <a:latin typeface="Arial"/>
              </a:rPr>
              <a:t>0.058</a:t>
            </a:r>
          </a:p>
          <a:p>
            <a:pPr>
              <a:spcAft>
                <a:spcPts val="1000"/>
              </a:spcAft>
            </a:pPr>
            <a:r>
              <a:rPr b="1" sz="1300">
                <a:solidFill>
                  <a:srgbClr val="0B1F3A"/>
                </a:solidFill>
                <a:latin typeface="Arial"/>
              </a:rPr>
              <a:t>HAC t (one-sided 5%), AR(1) rho=0.3 null. </a:t>
            </a:r>
            <a:r>
              <a:rPr sz="1300">
                <a:solidFill>
                  <a:srgbClr val="1B2430"/>
                </a:solidFill>
                <a:latin typeface="Arial"/>
              </a:rPr>
              <a:t>0.073</a:t>
            </a:r>
          </a:p>
          <a:p>
            <a:pPr>
              <a:spcAft>
                <a:spcPts val="1000"/>
              </a:spcAft>
            </a:pPr>
            <a:r>
              <a:rPr b="1" sz="1300">
                <a:solidFill>
                  <a:srgbClr val="0B1F3A"/>
                </a:solidFill>
                <a:latin typeface="Arial"/>
              </a:rPr>
              <a:t>HAC t (one-sided 5%), mean=0.1 sd. </a:t>
            </a:r>
            <a:r>
              <a:rPr sz="1300">
                <a:solidFill>
                  <a:srgbClr val="1B2430"/>
                </a:solidFill>
                <a:latin typeface="Arial"/>
              </a:rPr>
              <a:t>0.847</a:t>
            </a:r>
          </a:p>
          <a:p>
            <a:pPr>
              <a:spcAft>
                <a:spcPts val="1000"/>
              </a:spcAft>
            </a:pPr>
            <a:r>
              <a:rPr b="1" sz="1300">
                <a:solidFill>
                  <a:srgbClr val="0B1F3A"/>
                </a:solidFill>
                <a:latin typeface="Arial"/>
              </a:rPr>
              <a:t>Diebold-Mariano (one-sided 5%), equal skill. </a:t>
            </a:r>
            <a:r>
              <a:rPr sz="1300">
                <a:solidFill>
                  <a:srgbClr val="1B2430"/>
                </a:solidFill>
                <a:latin typeface="Arial"/>
              </a:rPr>
              <a:t>0.057</a:t>
            </a:r>
          </a:p>
          <a:p>
            <a:pPr>
              <a:spcAft>
                <a:spcPts val="1000"/>
              </a:spcAft>
            </a:pPr>
            <a:r>
              <a:rPr b="1" sz="1300">
                <a:solidFill>
                  <a:srgbClr val="0B1F3A"/>
                </a:solidFill>
                <a:latin typeface="Arial"/>
              </a:rPr>
              <a:t>Jarque-Bera (5%), normal. </a:t>
            </a:r>
            <a:r>
              <a:rPr sz="1300">
                <a:solidFill>
                  <a:srgbClr val="1B2430"/>
                </a:solidFill>
                <a:latin typeface="Arial"/>
              </a:rPr>
              <a:t>0.058</a:t>
            </a:r>
          </a:p>
          <a:p>
            <a:pPr>
              <a:spcAft>
                <a:spcPts val="1000"/>
              </a:spcAft>
            </a:pPr>
            <a:r>
              <a:rPr b="1" sz="1300">
                <a:solidFill>
                  <a:srgbClr val="0B1F3A"/>
                </a:solidFill>
                <a:latin typeface="Arial"/>
              </a:rPr>
              <a:t>Jarque-Bera (5%), t(4). </a:t>
            </a:r>
            <a:r>
              <a:rPr sz="1300">
                <a:solidFill>
                  <a:srgbClr val="1B2430"/>
                </a:solidFill>
                <a:latin typeface="Arial"/>
              </a:rPr>
              <a:t>1.000</a:t>
            </a:r>
          </a:p>
          <a:p>
            <a:pPr>
              <a:spcAft>
                <a:spcPts val="1000"/>
              </a:spcAft>
            </a:pPr>
            <a:r>
              <a:rPr b="1" sz="1300">
                <a:solidFill>
                  <a:srgbClr val="0B1F3A"/>
                </a:solidFill>
                <a:latin typeface="Arial"/>
              </a:rPr>
              <a:t>Ljung-Box (5%, 12 lags), iid. </a:t>
            </a:r>
            <a:r>
              <a:rPr sz="1300">
                <a:solidFill>
                  <a:srgbClr val="1B2430"/>
                </a:solidFill>
                <a:latin typeface="Arial"/>
              </a:rPr>
              <a:t>0.041</a:t>
            </a:r>
          </a:p>
          <a:p>
            <a:pPr>
              <a:spcAft>
                <a:spcPts val="1000"/>
              </a:spcAft>
            </a:pPr>
            <a:r>
              <a:rPr b="1" sz="1300">
                <a:solidFill>
                  <a:srgbClr val="0B1F3A"/>
                </a:solidFill>
                <a:latin typeface="Arial"/>
              </a:rPr>
              <a:t>Ljung-Box (5%, 12 lags), AR(1) 0.15. </a:t>
            </a:r>
            <a:r>
              <a:rPr sz="1300">
                <a:solidFill>
                  <a:srgbClr val="1B2430"/>
                </a:solidFill>
                <a:latin typeface="Arial"/>
              </a:rPr>
              <a:t>0.765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